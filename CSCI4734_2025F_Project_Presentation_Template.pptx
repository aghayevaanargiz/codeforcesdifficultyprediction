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95" r:id="rId1"/>
  </p:sldMasterIdLst>
  <p:notesMasterIdLst>
    <p:notesMasterId r:id="rId17"/>
  </p:notesMasterIdLst>
  <p:sldIdLst>
    <p:sldId id="256" r:id="rId2"/>
    <p:sldId id="258" r:id="rId3"/>
    <p:sldId id="259" r:id="rId4"/>
    <p:sldId id="265" r:id="rId5"/>
    <p:sldId id="257" r:id="rId6"/>
    <p:sldId id="260" r:id="rId7"/>
    <p:sldId id="266" r:id="rId8"/>
    <p:sldId id="268" r:id="rId9"/>
    <p:sldId id="267" r:id="rId10"/>
    <p:sldId id="261" r:id="rId11"/>
    <p:sldId id="269" r:id="rId12"/>
    <p:sldId id="270" r:id="rId13"/>
    <p:sldId id="262" r:id="rId14"/>
    <p:sldId id="263" r:id="rId15"/>
    <p:sldId id="264"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66" d="100"/>
          <a:sy n="66" d="100"/>
        </p:scale>
        <p:origin x="422" y="59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5_2">
  <dgm:title val=""/>
  <dgm:desc val=""/>
  <dgm:catLst>
    <dgm:cat type="accent5" pri="11200"/>
  </dgm:catLst>
  <dgm:styleLbl name="node0">
    <dgm:fillClrLst meth="repeat">
      <a:schemeClr val="accent5"/>
    </dgm:fillClrLst>
    <dgm:linClrLst meth="repeat">
      <a:schemeClr val="lt1"/>
    </dgm:linClrLst>
    <dgm:effectClrLst/>
    <dgm:txLinClrLst/>
    <dgm:txFillClrLst/>
    <dgm:txEffectClrLst/>
  </dgm:styleLbl>
  <dgm:styleLbl name="node1">
    <dgm:fillClrLst meth="repeat">
      <a:schemeClr val="accent5"/>
    </dgm:fillClrLst>
    <dgm:linClrLst meth="repeat">
      <a:schemeClr val="lt1"/>
    </dgm:linClrLst>
    <dgm:effectClrLst/>
    <dgm:txLinClrLst/>
    <dgm:txFillClrLst/>
    <dgm:txEffectClrLst/>
  </dgm:styleLbl>
  <dgm:styleLbl name="alignNode1">
    <dgm:fillClrLst meth="repeat">
      <a:schemeClr val="accent5"/>
    </dgm:fillClrLst>
    <dgm:linClrLst meth="repeat">
      <a:schemeClr val="accent5"/>
    </dgm:linClrLst>
    <dgm:effectClrLst/>
    <dgm:txLinClrLst/>
    <dgm:txFillClrLst/>
    <dgm:txEffectClrLst/>
  </dgm:styleLbl>
  <dgm:styleLbl name="lnNode1">
    <dgm:fillClrLst meth="repeat">
      <a:schemeClr val="accent5"/>
    </dgm:fillClrLst>
    <dgm:linClrLst meth="repeat">
      <a:schemeClr val="lt1"/>
    </dgm:linClrLst>
    <dgm:effectClrLst/>
    <dgm:txLinClrLst/>
    <dgm:txFillClrLst/>
    <dgm:txEffectClrLst/>
  </dgm:styleLbl>
  <dgm:styleLbl name="vennNode1">
    <dgm:fillClrLst meth="repeat">
      <a:schemeClr val="accent5">
        <a:alpha val="50000"/>
      </a:schemeClr>
    </dgm:fillClrLst>
    <dgm:linClrLst meth="repeat">
      <a:schemeClr val="lt1"/>
    </dgm:linClrLst>
    <dgm:effectClrLst/>
    <dgm:txLinClrLst/>
    <dgm:txFillClrLst/>
    <dgm:txEffectClrLst/>
  </dgm:styleLbl>
  <dgm:styleLbl name="node2">
    <dgm:fillClrLst meth="repeat">
      <a:schemeClr val="accent5"/>
    </dgm:fillClrLst>
    <dgm:linClrLst meth="repeat">
      <a:schemeClr val="lt1"/>
    </dgm:linClrLst>
    <dgm:effectClrLst/>
    <dgm:txLinClrLst/>
    <dgm:txFillClrLst/>
    <dgm:txEffectClrLst/>
  </dgm:styleLbl>
  <dgm:styleLbl name="node3">
    <dgm:fillClrLst meth="repeat">
      <a:schemeClr val="accent5"/>
    </dgm:fillClrLst>
    <dgm:linClrLst meth="repeat">
      <a:schemeClr val="lt1"/>
    </dgm:linClrLst>
    <dgm:effectClrLst/>
    <dgm:txLinClrLst/>
    <dgm:txFillClrLst/>
    <dgm:txEffectClrLst/>
  </dgm:styleLbl>
  <dgm:styleLbl name="node4">
    <dgm:fillClrLst meth="repeat">
      <a:schemeClr val="accent5"/>
    </dgm:fillClrLst>
    <dgm:linClrLst meth="repeat">
      <a:schemeClr val="lt1"/>
    </dgm:linClrLst>
    <dgm:effectClrLst/>
    <dgm:txLinClrLst/>
    <dgm:txFillClrLst/>
    <dgm:txEffectClrLst/>
  </dgm:styleLbl>
  <dgm:styleLbl name="f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5">
        <a:tint val="60000"/>
      </a:schemeClr>
    </dgm:fillClrLst>
    <dgm:linClrLst meth="repeat">
      <a:schemeClr val="accent5">
        <a:tint val="60000"/>
      </a:schemeClr>
    </dgm:linClrLst>
    <dgm:effectClrLst/>
    <dgm:txLinClrLst/>
    <dgm:txFillClrLst/>
    <dgm:txEffectClrLst/>
  </dgm:styleLbl>
  <dgm:styleLbl name="fgSibTrans2D1">
    <dgm:fillClrLst meth="repeat">
      <a:schemeClr val="accent5">
        <a:tint val="60000"/>
      </a:schemeClr>
    </dgm:fillClrLst>
    <dgm:linClrLst meth="repeat">
      <a:schemeClr val="accent5">
        <a:tint val="60000"/>
      </a:schemeClr>
    </dgm:linClrLst>
    <dgm:effectClrLst/>
    <dgm:txLinClrLst/>
    <dgm:txFillClrLst/>
    <dgm:txEffectClrLst/>
  </dgm:styleLbl>
  <dgm:styleLbl name="bgSibTrans2D1">
    <dgm:fillClrLst meth="repeat">
      <a:schemeClr val="accent5">
        <a:tint val="60000"/>
      </a:schemeClr>
    </dgm:fillClrLst>
    <dgm:linClrLst meth="repeat">
      <a:schemeClr val="accent5">
        <a:tint val="60000"/>
      </a:schemeClr>
    </dgm:linClrLst>
    <dgm:effectClrLst/>
    <dgm:txLinClrLst/>
    <dgm:txFillClrLst/>
    <dgm:txEffectClrLst/>
  </dgm:styleLbl>
  <dgm:styleLbl name="sibTrans1D1">
    <dgm:fillClrLst meth="repeat">
      <a:schemeClr val="accent5"/>
    </dgm:fillClrLst>
    <dgm:linClrLst meth="repeat">
      <a:schemeClr val="accent5"/>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dgm:linClrLst>
    <dgm:effectClrLst/>
    <dgm:txLinClrLst/>
    <dgm:txFillClrLst/>
    <dgm:txEffectClrLst/>
  </dgm:styleLbl>
  <dgm:styleLbl name="asst1">
    <dgm:fillClrLst meth="repeat">
      <a:schemeClr val="accent5"/>
    </dgm:fillClrLst>
    <dgm:linClrLst meth="repeat">
      <a:schemeClr val="lt1"/>
    </dgm:linClrLst>
    <dgm:effectClrLst/>
    <dgm:txLinClrLst/>
    <dgm:txFillClrLst/>
    <dgm:txEffectClrLst/>
  </dgm:styleLbl>
  <dgm:styleLbl name="asst2">
    <dgm:fillClrLst meth="repeat">
      <a:schemeClr val="accent5"/>
    </dgm:fillClrLst>
    <dgm:linClrLst meth="repeat">
      <a:schemeClr val="lt1"/>
    </dgm:linClrLst>
    <dgm:effectClrLst/>
    <dgm:txLinClrLst/>
    <dgm:txFillClrLst/>
    <dgm:txEffectClrLst/>
  </dgm:styleLbl>
  <dgm:styleLbl name="asst3">
    <dgm:fillClrLst meth="repeat">
      <a:schemeClr val="accent5"/>
    </dgm:fillClrLst>
    <dgm:linClrLst meth="repeat">
      <a:schemeClr val="lt1"/>
    </dgm:linClrLst>
    <dgm:effectClrLst/>
    <dgm:txLinClrLst/>
    <dgm:txFillClrLst/>
    <dgm:txEffectClrLst/>
  </dgm:styleLbl>
  <dgm:styleLbl name="asst4">
    <dgm:fillClrLst meth="repeat">
      <a:schemeClr val="accent5"/>
    </dgm:fillClrLst>
    <dgm:linClrLst meth="repeat">
      <a:schemeClr val="lt1"/>
    </dgm:linClrLst>
    <dgm:effectClrLst/>
    <dgm:txLinClrLst/>
    <dgm:txFillClrLst/>
    <dgm:txEffectClrLst/>
  </dgm:styleLbl>
  <dgm:styleLbl name="parChTrans2D1">
    <dgm:fillClrLst meth="repeat">
      <a:schemeClr val="accent5">
        <a:tint val="60000"/>
      </a:schemeClr>
    </dgm:fillClrLst>
    <dgm:linClrLst meth="repeat">
      <a:schemeClr val="accent5">
        <a:tint val="60000"/>
      </a:schemeClr>
    </dgm:linClrLst>
    <dgm:effectClrLst/>
    <dgm:txLinClrLst/>
    <dgm:txFillClrLst meth="repeat">
      <a:schemeClr val="lt1"/>
    </dgm:txFillClrLst>
    <dgm:txEffectClrLst/>
  </dgm:styleLbl>
  <dgm:styleLbl name="parChTrans2D2">
    <dgm:fillClrLst meth="repeat">
      <a:schemeClr val="accent5"/>
    </dgm:fillClrLst>
    <dgm:linClrLst meth="repeat">
      <a:schemeClr val="accent5"/>
    </dgm:linClrLst>
    <dgm:effectClrLst/>
    <dgm:txLinClrLst/>
    <dgm:txFillClrLst meth="repeat">
      <a:schemeClr val="lt1"/>
    </dgm:txFillClrLst>
    <dgm:txEffectClrLst/>
  </dgm:styleLbl>
  <dgm:styleLbl name="parChTrans2D3">
    <dgm:fillClrLst meth="repeat">
      <a:schemeClr val="accent5"/>
    </dgm:fillClrLst>
    <dgm:linClrLst meth="repeat">
      <a:schemeClr val="accent5"/>
    </dgm:linClrLst>
    <dgm:effectClrLst/>
    <dgm:txLinClrLst/>
    <dgm:txFillClrLst meth="repeat">
      <a:schemeClr val="lt1"/>
    </dgm:txFillClrLst>
    <dgm:txEffectClrLst/>
  </dgm:styleLbl>
  <dgm:styleLbl name="parChTrans2D4">
    <dgm:fillClrLst meth="repeat">
      <a:schemeClr val="accent5"/>
    </dgm:fillClrLst>
    <dgm:linClrLst meth="repeat">
      <a:schemeClr val="accent5"/>
    </dgm:linClrLst>
    <dgm:effectClrLst/>
    <dgm:txLinClrLst/>
    <dgm:txFillClrLst meth="repeat">
      <a:schemeClr val="lt1"/>
    </dgm:txFillClrLst>
    <dgm:txEffectClrLst/>
  </dgm:styleLbl>
  <dgm:styleLbl name="parChTrans1D1">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2">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3">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parChTrans1D4">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solidFgAcc1">
    <dgm:fillClrLst meth="repeat">
      <a:schemeClr val="lt1"/>
    </dgm:fillClrLst>
    <dgm:linClrLst meth="repeat">
      <a:schemeClr val="accent5"/>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align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b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accent5"/>
    </dgm:linClrLst>
    <dgm:effectClrLst/>
    <dgm:txLinClrLst/>
    <dgm:txFillClrLst meth="repeat">
      <a:schemeClr val="dk1"/>
    </dgm:txFillClrLst>
    <dgm:txEffectClrLst/>
  </dgm:styleLbl>
  <dgm:styleLbl name="dkBgShp">
    <dgm:fillClrLst meth="repeat">
      <a:schemeClr val="accent5">
        <a:shade val="80000"/>
      </a:schemeClr>
    </dgm:fillClrLst>
    <dgm:linClrLst meth="repeat">
      <a:schemeClr val="accent5"/>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04BAA6C-C7C5-4C8E-B57B-438E0552C99B}" type="doc">
      <dgm:prSet loTypeId="urn:microsoft.com/office/officeart/2008/layout/LinedList" loCatId="list" qsTypeId="urn:microsoft.com/office/officeart/2005/8/quickstyle/simple1" qsCatId="simple" csTypeId="urn:microsoft.com/office/officeart/2005/8/colors/colorful2" csCatId="colorful"/>
      <dgm:spPr/>
      <dgm:t>
        <a:bodyPr/>
        <a:lstStyle/>
        <a:p>
          <a:endParaRPr lang="en-US"/>
        </a:p>
      </dgm:t>
    </dgm:pt>
    <dgm:pt modelId="{746C99DF-3AF2-446C-A5BF-C4C0A425A630}">
      <dgm:prSet/>
      <dgm:spPr/>
      <dgm:t>
        <a:bodyPr/>
        <a:lstStyle/>
        <a:p>
          <a:r>
            <a:rPr lang="en-US"/>
            <a:t>Problem Statement</a:t>
          </a:r>
        </a:p>
      </dgm:t>
    </dgm:pt>
    <dgm:pt modelId="{47122FA6-6426-4788-A900-443D8625CB51}" type="parTrans" cxnId="{67B7D2BA-DD08-4D5A-93B4-190ED7CB5AEF}">
      <dgm:prSet/>
      <dgm:spPr/>
      <dgm:t>
        <a:bodyPr/>
        <a:lstStyle/>
        <a:p>
          <a:endParaRPr lang="en-US"/>
        </a:p>
      </dgm:t>
    </dgm:pt>
    <dgm:pt modelId="{307E01F0-6752-40F4-9CD2-48FDFDB07787}" type="sibTrans" cxnId="{67B7D2BA-DD08-4D5A-93B4-190ED7CB5AEF}">
      <dgm:prSet/>
      <dgm:spPr/>
      <dgm:t>
        <a:bodyPr/>
        <a:lstStyle/>
        <a:p>
          <a:endParaRPr lang="en-US"/>
        </a:p>
      </dgm:t>
    </dgm:pt>
    <dgm:pt modelId="{939134FE-5B8B-4126-A744-86879FAEFCF8}">
      <dgm:prSet/>
      <dgm:spPr/>
      <dgm:t>
        <a:bodyPr/>
        <a:lstStyle/>
        <a:p>
          <a:r>
            <a:rPr lang="en-US"/>
            <a:t>Data</a:t>
          </a:r>
        </a:p>
      </dgm:t>
    </dgm:pt>
    <dgm:pt modelId="{BCAAE607-3306-47D3-9D68-CC424D9BB445}" type="parTrans" cxnId="{D52FDC89-8C01-4FFE-99A7-F5479B3CEE9A}">
      <dgm:prSet/>
      <dgm:spPr/>
      <dgm:t>
        <a:bodyPr/>
        <a:lstStyle/>
        <a:p>
          <a:endParaRPr lang="en-US"/>
        </a:p>
      </dgm:t>
    </dgm:pt>
    <dgm:pt modelId="{3D590871-AEB1-4750-A326-61C2B5A8CB12}" type="sibTrans" cxnId="{D52FDC89-8C01-4FFE-99A7-F5479B3CEE9A}">
      <dgm:prSet/>
      <dgm:spPr/>
      <dgm:t>
        <a:bodyPr/>
        <a:lstStyle/>
        <a:p>
          <a:endParaRPr lang="en-US"/>
        </a:p>
      </dgm:t>
    </dgm:pt>
    <dgm:pt modelId="{6B495787-10DB-46DB-848E-8086BEB1BF3F}">
      <dgm:prSet/>
      <dgm:spPr/>
      <dgm:t>
        <a:bodyPr/>
        <a:lstStyle/>
        <a:p>
          <a:r>
            <a:rPr lang="en-US"/>
            <a:t>Model(s)</a:t>
          </a:r>
        </a:p>
      </dgm:t>
    </dgm:pt>
    <dgm:pt modelId="{232E019D-3CC7-458B-AB42-1B99A83F00EC}" type="parTrans" cxnId="{09DB8AD8-D331-45C6-BA4C-32F51979B3C6}">
      <dgm:prSet/>
      <dgm:spPr/>
      <dgm:t>
        <a:bodyPr/>
        <a:lstStyle/>
        <a:p>
          <a:endParaRPr lang="en-US"/>
        </a:p>
      </dgm:t>
    </dgm:pt>
    <dgm:pt modelId="{14F9E3F2-DBC0-4742-8DFE-63355103D388}" type="sibTrans" cxnId="{09DB8AD8-D331-45C6-BA4C-32F51979B3C6}">
      <dgm:prSet/>
      <dgm:spPr/>
      <dgm:t>
        <a:bodyPr/>
        <a:lstStyle/>
        <a:p>
          <a:endParaRPr lang="en-US"/>
        </a:p>
      </dgm:t>
    </dgm:pt>
    <dgm:pt modelId="{587107B6-2BC0-42C7-B071-7DC50169082B}">
      <dgm:prSet/>
      <dgm:spPr/>
      <dgm:t>
        <a:bodyPr/>
        <a:lstStyle/>
        <a:p>
          <a:r>
            <a:rPr lang="en-US"/>
            <a:t>Results</a:t>
          </a:r>
        </a:p>
      </dgm:t>
    </dgm:pt>
    <dgm:pt modelId="{17A907B6-0285-466F-AE82-33F71B6E024D}" type="parTrans" cxnId="{911EB1E8-1C14-417B-848C-D7CB4F3A3EC1}">
      <dgm:prSet/>
      <dgm:spPr/>
      <dgm:t>
        <a:bodyPr/>
        <a:lstStyle/>
        <a:p>
          <a:endParaRPr lang="en-US"/>
        </a:p>
      </dgm:t>
    </dgm:pt>
    <dgm:pt modelId="{3FF5F631-CEFD-4BE2-B3C7-BDBA540E34BB}" type="sibTrans" cxnId="{911EB1E8-1C14-417B-848C-D7CB4F3A3EC1}">
      <dgm:prSet/>
      <dgm:spPr/>
      <dgm:t>
        <a:bodyPr/>
        <a:lstStyle/>
        <a:p>
          <a:endParaRPr lang="en-US"/>
        </a:p>
      </dgm:t>
    </dgm:pt>
    <dgm:pt modelId="{A6468547-8030-45CC-9E2C-69882B15579C}">
      <dgm:prSet/>
      <dgm:spPr/>
      <dgm:t>
        <a:bodyPr/>
        <a:lstStyle/>
        <a:p>
          <a:r>
            <a:rPr lang="en-US"/>
            <a:t>Considerations</a:t>
          </a:r>
        </a:p>
      </dgm:t>
    </dgm:pt>
    <dgm:pt modelId="{868D5F37-F879-490E-A818-E8D830AB7AD2}" type="parTrans" cxnId="{4C639556-1977-4666-90F7-CA85BA629C3E}">
      <dgm:prSet/>
      <dgm:spPr/>
      <dgm:t>
        <a:bodyPr/>
        <a:lstStyle/>
        <a:p>
          <a:endParaRPr lang="en-US"/>
        </a:p>
      </dgm:t>
    </dgm:pt>
    <dgm:pt modelId="{D9F83E2C-9C77-4DEF-BF2F-8E10707203CF}" type="sibTrans" cxnId="{4C639556-1977-4666-90F7-CA85BA629C3E}">
      <dgm:prSet/>
      <dgm:spPr/>
      <dgm:t>
        <a:bodyPr/>
        <a:lstStyle/>
        <a:p>
          <a:endParaRPr lang="en-US"/>
        </a:p>
      </dgm:t>
    </dgm:pt>
    <dgm:pt modelId="{BA806AD4-3F4C-4462-8C02-A6BFEA12D580}" type="pres">
      <dgm:prSet presAssocID="{A04BAA6C-C7C5-4C8E-B57B-438E0552C99B}" presName="vert0" presStyleCnt="0">
        <dgm:presLayoutVars>
          <dgm:dir/>
          <dgm:animOne val="branch"/>
          <dgm:animLvl val="lvl"/>
        </dgm:presLayoutVars>
      </dgm:prSet>
      <dgm:spPr/>
    </dgm:pt>
    <dgm:pt modelId="{620CC507-A00C-498E-BEDD-7ABBC9A5009D}" type="pres">
      <dgm:prSet presAssocID="{746C99DF-3AF2-446C-A5BF-C4C0A425A630}" presName="thickLine" presStyleLbl="alignNode1" presStyleIdx="0" presStyleCnt="5"/>
      <dgm:spPr/>
    </dgm:pt>
    <dgm:pt modelId="{C4891262-44F0-4853-B6DB-AF804940A3D9}" type="pres">
      <dgm:prSet presAssocID="{746C99DF-3AF2-446C-A5BF-C4C0A425A630}" presName="horz1" presStyleCnt="0"/>
      <dgm:spPr/>
    </dgm:pt>
    <dgm:pt modelId="{163044C8-2274-4370-8C16-8BA3803F2E61}" type="pres">
      <dgm:prSet presAssocID="{746C99DF-3AF2-446C-A5BF-C4C0A425A630}" presName="tx1" presStyleLbl="revTx" presStyleIdx="0" presStyleCnt="5"/>
      <dgm:spPr/>
    </dgm:pt>
    <dgm:pt modelId="{D711CADA-61A1-4859-A849-9C858A4E1ED5}" type="pres">
      <dgm:prSet presAssocID="{746C99DF-3AF2-446C-A5BF-C4C0A425A630}" presName="vert1" presStyleCnt="0"/>
      <dgm:spPr/>
    </dgm:pt>
    <dgm:pt modelId="{8F7905C1-F6AB-402F-A3BB-FDFCF1BE1818}" type="pres">
      <dgm:prSet presAssocID="{939134FE-5B8B-4126-A744-86879FAEFCF8}" presName="thickLine" presStyleLbl="alignNode1" presStyleIdx="1" presStyleCnt="5"/>
      <dgm:spPr/>
    </dgm:pt>
    <dgm:pt modelId="{1D6E3A00-F2AF-4675-9BE2-5B42E2FD6FA5}" type="pres">
      <dgm:prSet presAssocID="{939134FE-5B8B-4126-A744-86879FAEFCF8}" presName="horz1" presStyleCnt="0"/>
      <dgm:spPr/>
    </dgm:pt>
    <dgm:pt modelId="{7F2F75DC-DB2F-4636-94F4-6C2F1172EFBE}" type="pres">
      <dgm:prSet presAssocID="{939134FE-5B8B-4126-A744-86879FAEFCF8}" presName="tx1" presStyleLbl="revTx" presStyleIdx="1" presStyleCnt="5"/>
      <dgm:spPr/>
    </dgm:pt>
    <dgm:pt modelId="{F04B66B3-4744-48FD-B6C3-0C1CE8F2C9BD}" type="pres">
      <dgm:prSet presAssocID="{939134FE-5B8B-4126-A744-86879FAEFCF8}" presName="vert1" presStyleCnt="0"/>
      <dgm:spPr/>
    </dgm:pt>
    <dgm:pt modelId="{EE72C3D9-C4C7-46E5-A65C-D86DE1B19DE2}" type="pres">
      <dgm:prSet presAssocID="{6B495787-10DB-46DB-848E-8086BEB1BF3F}" presName="thickLine" presStyleLbl="alignNode1" presStyleIdx="2" presStyleCnt="5"/>
      <dgm:spPr/>
    </dgm:pt>
    <dgm:pt modelId="{D99AD1DC-DA86-47B4-B1F5-E633C0FD6884}" type="pres">
      <dgm:prSet presAssocID="{6B495787-10DB-46DB-848E-8086BEB1BF3F}" presName="horz1" presStyleCnt="0"/>
      <dgm:spPr/>
    </dgm:pt>
    <dgm:pt modelId="{D0647724-5F78-4C0A-8898-EB8610D753A8}" type="pres">
      <dgm:prSet presAssocID="{6B495787-10DB-46DB-848E-8086BEB1BF3F}" presName="tx1" presStyleLbl="revTx" presStyleIdx="2" presStyleCnt="5"/>
      <dgm:spPr/>
    </dgm:pt>
    <dgm:pt modelId="{EB2F3292-D2C9-44D8-A0AC-8D9CCD0F9D2D}" type="pres">
      <dgm:prSet presAssocID="{6B495787-10DB-46DB-848E-8086BEB1BF3F}" presName="vert1" presStyleCnt="0"/>
      <dgm:spPr/>
    </dgm:pt>
    <dgm:pt modelId="{4F68C71B-0F1C-44F7-BD1E-2B22785F6F2C}" type="pres">
      <dgm:prSet presAssocID="{587107B6-2BC0-42C7-B071-7DC50169082B}" presName="thickLine" presStyleLbl="alignNode1" presStyleIdx="3" presStyleCnt="5"/>
      <dgm:spPr/>
    </dgm:pt>
    <dgm:pt modelId="{C5DF1872-D14C-4999-939D-E93B76EB392F}" type="pres">
      <dgm:prSet presAssocID="{587107B6-2BC0-42C7-B071-7DC50169082B}" presName="horz1" presStyleCnt="0"/>
      <dgm:spPr/>
    </dgm:pt>
    <dgm:pt modelId="{D109D79D-C026-4F3F-AB4A-657BD7BE90AA}" type="pres">
      <dgm:prSet presAssocID="{587107B6-2BC0-42C7-B071-7DC50169082B}" presName="tx1" presStyleLbl="revTx" presStyleIdx="3" presStyleCnt="5"/>
      <dgm:spPr/>
    </dgm:pt>
    <dgm:pt modelId="{481FC51B-63A0-42D5-BEBA-E855B8C1406D}" type="pres">
      <dgm:prSet presAssocID="{587107B6-2BC0-42C7-B071-7DC50169082B}" presName="vert1" presStyleCnt="0"/>
      <dgm:spPr/>
    </dgm:pt>
    <dgm:pt modelId="{3DD9BB91-A294-4FEC-BBE5-AB4C9CA12487}" type="pres">
      <dgm:prSet presAssocID="{A6468547-8030-45CC-9E2C-69882B15579C}" presName="thickLine" presStyleLbl="alignNode1" presStyleIdx="4" presStyleCnt="5"/>
      <dgm:spPr/>
    </dgm:pt>
    <dgm:pt modelId="{21D0B744-03CD-49A1-A8F7-4DB4A3DAE027}" type="pres">
      <dgm:prSet presAssocID="{A6468547-8030-45CC-9E2C-69882B15579C}" presName="horz1" presStyleCnt="0"/>
      <dgm:spPr/>
    </dgm:pt>
    <dgm:pt modelId="{C6D20F5F-26D4-4F09-B964-CC132EDA4E4F}" type="pres">
      <dgm:prSet presAssocID="{A6468547-8030-45CC-9E2C-69882B15579C}" presName="tx1" presStyleLbl="revTx" presStyleIdx="4" presStyleCnt="5"/>
      <dgm:spPr/>
    </dgm:pt>
    <dgm:pt modelId="{89604B03-16E5-4DA6-BEA1-7E7189C81706}" type="pres">
      <dgm:prSet presAssocID="{A6468547-8030-45CC-9E2C-69882B15579C}" presName="vert1" presStyleCnt="0"/>
      <dgm:spPr/>
    </dgm:pt>
  </dgm:ptLst>
  <dgm:cxnLst>
    <dgm:cxn modelId="{C81F8604-21A3-4EFF-86DA-C1065CAFA0A1}" type="presOf" srcId="{746C99DF-3AF2-446C-A5BF-C4C0A425A630}" destId="{163044C8-2274-4370-8C16-8BA3803F2E61}" srcOrd="0" destOrd="0" presId="urn:microsoft.com/office/officeart/2008/layout/LinedList"/>
    <dgm:cxn modelId="{C0345C26-5C9A-43E9-AF83-FB03B4161D73}" type="presOf" srcId="{6B495787-10DB-46DB-848E-8086BEB1BF3F}" destId="{D0647724-5F78-4C0A-8898-EB8610D753A8}" srcOrd="0" destOrd="0" presId="urn:microsoft.com/office/officeart/2008/layout/LinedList"/>
    <dgm:cxn modelId="{B6FDB934-716F-4CCC-A451-F358C74F52A4}" type="presOf" srcId="{A6468547-8030-45CC-9E2C-69882B15579C}" destId="{C6D20F5F-26D4-4F09-B964-CC132EDA4E4F}" srcOrd="0" destOrd="0" presId="urn:microsoft.com/office/officeart/2008/layout/LinedList"/>
    <dgm:cxn modelId="{4C639556-1977-4666-90F7-CA85BA629C3E}" srcId="{A04BAA6C-C7C5-4C8E-B57B-438E0552C99B}" destId="{A6468547-8030-45CC-9E2C-69882B15579C}" srcOrd="4" destOrd="0" parTransId="{868D5F37-F879-490E-A818-E8D830AB7AD2}" sibTransId="{D9F83E2C-9C77-4DEF-BF2F-8E10707203CF}"/>
    <dgm:cxn modelId="{D52FDC89-8C01-4FFE-99A7-F5479B3CEE9A}" srcId="{A04BAA6C-C7C5-4C8E-B57B-438E0552C99B}" destId="{939134FE-5B8B-4126-A744-86879FAEFCF8}" srcOrd="1" destOrd="0" parTransId="{BCAAE607-3306-47D3-9D68-CC424D9BB445}" sibTransId="{3D590871-AEB1-4750-A326-61C2B5A8CB12}"/>
    <dgm:cxn modelId="{BC6A8E9F-73F0-496E-857A-EDB96E0D1634}" type="presOf" srcId="{587107B6-2BC0-42C7-B071-7DC50169082B}" destId="{D109D79D-C026-4F3F-AB4A-657BD7BE90AA}" srcOrd="0" destOrd="0" presId="urn:microsoft.com/office/officeart/2008/layout/LinedList"/>
    <dgm:cxn modelId="{67B7D2BA-DD08-4D5A-93B4-190ED7CB5AEF}" srcId="{A04BAA6C-C7C5-4C8E-B57B-438E0552C99B}" destId="{746C99DF-3AF2-446C-A5BF-C4C0A425A630}" srcOrd="0" destOrd="0" parTransId="{47122FA6-6426-4788-A900-443D8625CB51}" sibTransId="{307E01F0-6752-40F4-9CD2-48FDFDB07787}"/>
    <dgm:cxn modelId="{09DB8AD8-D331-45C6-BA4C-32F51979B3C6}" srcId="{A04BAA6C-C7C5-4C8E-B57B-438E0552C99B}" destId="{6B495787-10DB-46DB-848E-8086BEB1BF3F}" srcOrd="2" destOrd="0" parTransId="{232E019D-3CC7-458B-AB42-1B99A83F00EC}" sibTransId="{14F9E3F2-DBC0-4742-8DFE-63355103D388}"/>
    <dgm:cxn modelId="{911EB1E8-1C14-417B-848C-D7CB4F3A3EC1}" srcId="{A04BAA6C-C7C5-4C8E-B57B-438E0552C99B}" destId="{587107B6-2BC0-42C7-B071-7DC50169082B}" srcOrd="3" destOrd="0" parTransId="{17A907B6-0285-466F-AE82-33F71B6E024D}" sibTransId="{3FF5F631-CEFD-4BE2-B3C7-BDBA540E34BB}"/>
    <dgm:cxn modelId="{FE5CD5EC-C8A6-4444-B002-CF1BABC862F3}" type="presOf" srcId="{939134FE-5B8B-4126-A744-86879FAEFCF8}" destId="{7F2F75DC-DB2F-4636-94F4-6C2F1172EFBE}" srcOrd="0" destOrd="0" presId="urn:microsoft.com/office/officeart/2008/layout/LinedList"/>
    <dgm:cxn modelId="{A8C652F2-F216-4F7D-9063-BB428224D17D}" type="presOf" srcId="{A04BAA6C-C7C5-4C8E-B57B-438E0552C99B}" destId="{BA806AD4-3F4C-4462-8C02-A6BFEA12D580}" srcOrd="0" destOrd="0" presId="urn:microsoft.com/office/officeart/2008/layout/LinedList"/>
    <dgm:cxn modelId="{F101BC6C-FBB1-43C1-A230-22136F6CB98D}" type="presParOf" srcId="{BA806AD4-3F4C-4462-8C02-A6BFEA12D580}" destId="{620CC507-A00C-498E-BEDD-7ABBC9A5009D}" srcOrd="0" destOrd="0" presId="urn:microsoft.com/office/officeart/2008/layout/LinedList"/>
    <dgm:cxn modelId="{E26BE8C6-5342-4838-8FB7-3608584AAE90}" type="presParOf" srcId="{BA806AD4-3F4C-4462-8C02-A6BFEA12D580}" destId="{C4891262-44F0-4853-B6DB-AF804940A3D9}" srcOrd="1" destOrd="0" presId="urn:microsoft.com/office/officeart/2008/layout/LinedList"/>
    <dgm:cxn modelId="{248B3698-32D6-4BEC-9076-4BB13B784909}" type="presParOf" srcId="{C4891262-44F0-4853-B6DB-AF804940A3D9}" destId="{163044C8-2274-4370-8C16-8BA3803F2E61}" srcOrd="0" destOrd="0" presId="urn:microsoft.com/office/officeart/2008/layout/LinedList"/>
    <dgm:cxn modelId="{E12F200B-EAD6-48ED-8D00-6C56D48D3F61}" type="presParOf" srcId="{C4891262-44F0-4853-B6DB-AF804940A3D9}" destId="{D711CADA-61A1-4859-A849-9C858A4E1ED5}" srcOrd="1" destOrd="0" presId="urn:microsoft.com/office/officeart/2008/layout/LinedList"/>
    <dgm:cxn modelId="{212B7318-0C8C-4998-A459-E34F5D61E74E}" type="presParOf" srcId="{BA806AD4-3F4C-4462-8C02-A6BFEA12D580}" destId="{8F7905C1-F6AB-402F-A3BB-FDFCF1BE1818}" srcOrd="2" destOrd="0" presId="urn:microsoft.com/office/officeart/2008/layout/LinedList"/>
    <dgm:cxn modelId="{375F558E-A757-4502-829C-1F85C85A99AA}" type="presParOf" srcId="{BA806AD4-3F4C-4462-8C02-A6BFEA12D580}" destId="{1D6E3A00-F2AF-4675-9BE2-5B42E2FD6FA5}" srcOrd="3" destOrd="0" presId="urn:microsoft.com/office/officeart/2008/layout/LinedList"/>
    <dgm:cxn modelId="{2A8BA542-BB0D-42D2-9B90-51514FE9B9D7}" type="presParOf" srcId="{1D6E3A00-F2AF-4675-9BE2-5B42E2FD6FA5}" destId="{7F2F75DC-DB2F-4636-94F4-6C2F1172EFBE}" srcOrd="0" destOrd="0" presId="urn:microsoft.com/office/officeart/2008/layout/LinedList"/>
    <dgm:cxn modelId="{3163A7CA-10C8-4C3E-91C1-F55479E9B176}" type="presParOf" srcId="{1D6E3A00-F2AF-4675-9BE2-5B42E2FD6FA5}" destId="{F04B66B3-4744-48FD-B6C3-0C1CE8F2C9BD}" srcOrd="1" destOrd="0" presId="urn:microsoft.com/office/officeart/2008/layout/LinedList"/>
    <dgm:cxn modelId="{C17FE8DB-30D5-41D7-AE7D-110FF2D91FF0}" type="presParOf" srcId="{BA806AD4-3F4C-4462-8C02-A6BFEA12D580}" destId="{EE72C3D9-C4C7-46E5-A65C-D86DE1B19DE2}" srcOrd="4" destOrd="0" presId="urn:microsoft.com/office/officeart/2008/layout/LinedList"/>
    <dgm:cxn modelId="{6E9CD152-E479-46D2-944F-E35490AAF221}" type="presParOf" srcId="{BA806AD4-3F4C-4462-8C02-A6BFEA12D580}" destId="{D99AD1DC-DA86-47B4-B1F5-E633C0FD6884}" srcOrd="5" destOrd="0" presId="urn:microsoft.com/office/officeart/2008/layout/LinedList"/>
    <dgm:cxn modelId="{C9E3EF75-0634-4798-8867-BFC46E3602B0}" type="presParOf" srcId="{D99AD1DC-DA86-47B4-B1F5-E633C0FD6884}" destId="{D0647724-5F78-4C0A-8898-EB8610D753A8}" srcOrd="0" destOrd="0" presId="urn:microsoft.com/office/officeart/2008/layout/LinedList"/>
    <dgm:cxn modelId="{3EC9C951-AAE2-4DFB-8CB0-B1B65C24EE65}" type="presParOf" srcId="{D99AD1DC-DA86-47B4-B1F5-E633C0FD6884}" destId="{EB2F3292-D2C9-44D8-A0AC-8D9CCD0F9D2D}" srcOrd="1" destOrd="0" presId="urn:microsoft.com/office/officeart/2008/layout/LinedList"/>
    <dgm:cxn modelId="{87E81693-8EF1-4A09-B13C-46BACB6C6F19}" type="presParOf" srcId="{BA806AD4-3F4C-4462-8C02-A6BFEA12D580}" destId="{4F68C71B-0F1C-44F7-BD1E-2B22785F6F2C}" srcOrd="6" destOrd="0" presId="urn:microsoft.com/office/officeart/2008/layout/LinedList"/>
    <dgm:cxn modelId="{C4E256F5-689B-4903-92FB-B94CFBAABDFC}" type="presParOf" srcId="{BA806AD4-3F4C-4462-8C02-A6BFEA12D580}" destId="{C5DF1872-D14C-4999-939D-E93B76EB392F}" srcOrd="7" destOrd="0" presId="urn:microsoft.com/office/officeart/2008/layout/LinedList"/>
    <dgm:cxn modelId="{A984F430-7023-4AAD-BAAD-12118A720031}" type="presParOf" srcId="{C5DF1872-D14C-4999-939D-E93B76EB392F}" destId="{D109D79D-C026-4F3F-AB4A-657BD7BE90AA}" srcOrd="0" destOrd="0" presId="urn:microsoft.com/office/officeart/2008/layout/LinedList"/>
    <dgm:cxn modelId="{931507BF-4D9E-423B-982A-1C45A8CA77BE}" type="presParOf" srcId="{C5DF1872-D14C-4999-939D-E93B76EB392F}" destId="{481FC51B-63A0-42D5-BEBA-E855B8C1406D}" srcOrd="1" destOrd="0" presId="urn:microsoft.com/office/officeart/2008/layout/LinedList"/>
    <dgm:cxn modelId="{1CA2EC7C-ED77-483F-993D-6F5C66ED1ADE}" type="presParOf" srcId="{BA806AD4-3F4C-4462-8C02-A6BFEA12D580}" destId="{3DD9BB91-A294-4FEC-BBE5-AB4C9CA12487}" srcOrd="8" destOrd="0" presId="urn:microsoft.com/office/officeart/2008/layout/LinedList"/>
    <dgm:cxn modelId="{5B3902A5-8079-478F-8EF7-1008ADCDC05C}" type="presParOf" srcId="{BA806AD4-3F4C-4462-8C02-A6BFEA12D580}" destId="{21D0B744-03CD-49A1-A8F7-4DB4A3DAE027}" srcOrd="9" destOrd="0" presId="urn:microsoft.com/office/officeart/2008/layout/LinedList"/>
    <dgm:cxn modelId="{63132F4E-96FE-4C09-B858-D555C8D0939F}" type="presParOf" srcId="{21D0B744-03CD-49A1-A8F7-4DB4A3DAE027}" destId="{C6D20F5F-26D4-4F09-B964-CC132EDA4E4F}" srcOrd="0" destOrd="0" presId="urn:microsoft.com/office/officeart/2008/layout/LinedList"/>
    <dgm:cxn modelId="{6411DBAE-59CD-4560-8F17-ECB4CC5587F1}" type="presParOf" srcId="{21D0B744-03CD-49A1-A8F7-4DB4A3DAE027}" destId="{89604B03-16E5-4DA6-BEA1-7E7189C81706}" srcOrd="1"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AFE4C7A7-2FB4-4C20-BDE2-9CFCCAC674CE}" type="doc">
      <dgm:prSet loTypeId="urn:microsoft.com/office/officeart/2005/8/layout/hList1" loCatId="list" qsTypeId="urn:microsoft.com/office/officeart/2005/8/quickstyle/simple2" qsCatId="simple" csTypeId="urn:microsoft.com/office/officeart/2005/8/colors/accent5_2" csCatId="accent5"/>
      <dgm:spPr/>
      <dgm:t>
        <a:bodyPr/>
        <a:lstStyle/>
        <a:p>
          <a:endParaRPr lang="en-US"/>
        </a:p>
      </dgm:t>
    </dgm:pt>
    <dgm:pt modelId="{3167656A-ECB0-4597-B726-273178BF19A9}">
      <dgm:prSet/>
      <dgm:spPr/>
      <dgm:t>
        <a:bodyPr/>
        <a:lstStyle/>
        <a:p>
          <a:r>
            <a:rPr lang="en-US" b="1"/>
            <a:t>Difficulty labels are subjective and time-dependent</a:t>
          </a:r>
          <a:endParaRPr lang="en-US"/>
        </a:p>
      </dgm:t>
    </dgm:pt>
    <dgm:pt modelId="{8A3A082A-F325-4ED6-B044-AB02A0CD4E08}" type="parTrans" cxnId="{74760BD1-C826-4266-AFDB-062AA1D719B8}">
      <dgm:prSet/>
      <dgm:spPr/>
      <dgm:t>
        <a:bodyPr/>
        <a:lstStyle/>
        <a:p>
          <a:endParaRPr lang="en-US"/>
        </a:p>
      </dgm:t>
    </dgm:pt>
    <dgm:pt modelId="{516BA81A-E9F1-4676-9A93-FEF465AE5EC5}" type="sibTrans" cxnId="{74760BD1-C826-4266-AFDB-062AA1D719B8}">
      <dgm:prSet/>
      <dgm:spPr/>
      <dgm:t>
        <a:bodyPr/>
        <a:lstStyle/>
        <a:p>
          <a:endParaRPr lang="en-US"/>
        </a:p>
      </dgm:t>
    </dgm:pt>
    <dgm:pt modelId="{2338232A-F78B-4559-8113-C774F8F362B9}">
      <dgm:prSet/>
      <dgm:spPr/>
      <dgm:t>
        <a:bodyPr/>
        <a:lstStyle/>
        <a:p>
          <a:r>
            <a:rPr lang="en-US"/>
            <a:t>Problem difficulty ratings are based on human judgment and contest performance, which can vary over time as participant skill levels and problem standards evolve. As a result, the same problem might receive a different rating if introduced in a different era</a:t>
          </a:r>
        </a:p>
      </dgm:t>
    </dgm:pt>
    <dgm:pt modelId="{9DB8EC5E-8A92-4220-BA1A-458995E64F45}" type="parTrans" cxnId="{A309AB62-C34C-4EB7-ABDD-EB9BDB1D8B38}">
      <dgm:prSet/>
      <dgm:spPr/>
      <dgm:t>
        <a:bodyPr/>
        <a:lstStyle/>
        <a:p>
          <a:endParaRPr lang="en-US"/>
        </a:p>
      </dgm:t>
    </dgm:pt>
    <dgm:pt modelId="{D531BCE7-7782-45DE-BE8B-2B6D20BAC979}" type="sibTrans" cxnId="{A309AB62-C34C-4EB7-ABDD-EB9BDB1D8B38}">
      <dgm:prSet/>
      <dgm:spPr/>
      <dgm:t>
        <a:bodyPr/>
        <a:lstStyle/>
        <a:p>
          <a:endParaRPr lang="en-US"/>
        </a:p>
      </dgm:t>
    </dgm:pt>
    <dgm:pt modelId="{6EF5A36F-3598-4FFE-9EB2-F1611487DC3D}">
      <dgm:prSet/>
      <dgm:spPr/>
      <dgm:t>
        <a:bodyPr/>
        <a:lstStyle/>
        <a:p>
          <a:r>
            <a:rPr lang="en-US" b="1"/>
            <a:t>Tags and editorials excluded to prevent leakage</a:t>
          </a:r>
          <a:endParaRPr lang="en-US"/>
        </a:p>
      </dgm:t>
    </dgm:pt>
    <dgm:pt modelId="{80E4ACEA-1B3B-49DF-AAEC-E029059C7E0D}" type="parTrans" cxnId="{1FB19C29-0AFE-4130-BBAB-B8F0CFA76385}">
      <dgm:prSet/>
      <dgm:spPr/>
      <dgm:t>
        <a:bodyPr/>
        <a:lstStyle/>
        <a:p>
          <a:endParaRPr lang="en-US"/>
        </a:p>
      </dgm:t>
    </dgm:pt>
    <dgm:pt modelId="{4D9B7608-5599-4FA4-83D8-549E975C9F2C}" type="sibTrans" cxnId="{1FB19C29-0AFE-4130-BBAB-B8F0CFA76385}">
      <dgm:prSet/>
      <dgm:spPr/>
      <dgm:t>
        <a:bodyPr/>
        <a:lstStyle/>
        <a:p>
          <a:endParaRPr lang="en-US"/>
        </a:p>
      </dgm:t>
    </dgm:pt>
    <dgm:pt modelId="{88DBD24B-2FF8-4B20-BA04-8DEB605B63ED}">
      <dgm:prSet/>
      <dgm:spPr/>
      <dgm:t>
        <a:bodyPr/>
        <a:lstStyle/>
        <a:p>
          <a:r>
            <a:rPr lang="en-US" dirty="0"/>
            <a:t>Tags and editorials are often assigned after difficulty is established and may reflect expert knowledge of the solution. Including them could leak post-hoc information, so they were excluded to ensure realistic and fair evaluation.</a:t>
          </a:r>
        </a:p>
      </dgm:t>
    </dgm:pt>
    <dgm:pt modelId="{DB9FF213-BD04-40BB-93EE-029204916D3A}" type="parTrans" cxnId="{CC255DD6-7736-4177-9C3D-8795FCF1D285}">
      <dgm:prSet/>
      <dgm:spPr/>
      <dgm:t>
        <a:bodyPr/>
        <a:lstStyle/>
        <a:p>
          <a:endParaRPr lang="en-US"/>
        </a:p>
      </dgm:t>
    </dgm:pt>
    <dgm:pt modelId="{CAD14CFD-89CC-49E3-B4DA-11D535A3D6CA}" type="sibTrans" cxnId="{CC255DD6-7736-4177-9C3D-8795FCF1D285}">
      <dgm:prSet/>
      <dgm:spPr/>
      <dgm:t>
        <a:bodyPr/>
        <a:lstStyle/>
        <a:p>
          <a:endParaRPr lang="en-US"/>
        </a:p>
      </dgm:t>
    </dgm:pt>
    <dgm:pt modelId="{F0685834-5D22-4C27-9474-779E01136F16}">
      <dgm:prSet/>
      <dgm:spPr/>
      <dgm:t>
        <a:bodyPr/>
        <a:lstStyle/>
        <a:p>
          <a:r>
            <a:rPr lang="en-US" b="1"/>
            <a:t>Generalization to new contest formats may vary</a:t>
          </a:r>
          <a:endParaRPr lang="en-US"/>
        </a:p>
      </dgm:t>
    </dgm:pt>
    <dgm:pt modelId="{8D4CB1B4-0325-4201-BC3E-120084593304}" type="parTrans" cxnId="{4612AF42-81D2-483E-998E-2B95595E8037}">
      <dgm:prSet/>
      <dgm:spPr/>
      <dgm:t>
        <a:bodyPr/>
        <a:lstStyle/>
        <a:p>
          <a:endParaRPr lang="en-US"/>
        </a:p>
      </dgm:t>
    </dgm:pt>
    <dgm:pt modelId="{5D828C56-BFD2-4AAE-99C4-4C0888A96311}" type="sibTrans" cxnId="{4612AF42-81D2-483E-998E-2B95595E8037}">
      <dgm:prSet/>
      <dgm:spPr/>
      <dgm:t>
        <a:bodyPr/>
        <a:lstStyle/>
        <a:p>
          <a:endParaRPr lang="en-US"/>
        </a:p>
      </dgm:t>
    </dgm:pt>
    <dgm:pt modelId="{EC52D339-03FE-4F2B-8A61-EB4FFC952DBC}">
      <dgm:prSet/>
      <dgm:spPr/>
      <dgm:t>
        <a:bodyPr/>
        <a:lstStyle/>
        <a:p>
          <a:r>
            <a:rPr lang="en-US"/>
            <a:t>The model is trained on historical contest data and may be less accurate when applied to significantly different or novel contest formats. Continuous retraining or adaptation would be needed to maintain performance over time.</a:t>
          </a:r>
        </a:p>
      </dgm:t>
    </dgm:pt>
    <dgm:pt modelId="{372ADE32-9505-441E-9D7E-01916FDE7813}" type="parTrans" cxnId="{B8CD4545-967E-4F64-AD0C-79D1EB6713E4}">
      <dgm:prSet/>
      <dgm:spPr/>
      <dgm:t>
        <a:bodyPr/>
        <a:lstStyle/>
        <a:p>
          <a:endParaRPr lang="en-US"/>
        </a:p>
      </dgm:t>
    </dgm:pt>
    <dgm:pt modelId="{54319919-C369-4616-A426-312BC8AE1551}" type="sibTrans" cxnId="{B8CD4545-967E-4F64-AD0C-79D1EB6713E4}">
      <dgm:prSet/>
      <dgm:spPr/>
      <dgm:t>
        <a:bodyPr/>
        <a:lstStyle/>
        <a:p>
          <a:endParaRPr lang="en-US"/>
        </a:p>
      </dgm:t>
    </dgm:pt>
    <dgm:pt modelId="{2DCA6E06-541E-4BC8-BF0D-48800EAA9E67}" type="pres">
      <dgm:prSet presAssocID="{AFE4C7A7-2FB4-4C20-BDE2-9CFCCAC674CE}" presName="Name0" presStyleCnt="0">
        <dgm:presLayoutVars>
          <dgm:dir/>
          <dgm:animLvl val="lvl"/>
          <dgm:resizeHandles val="exact"/>
        </dgm:presLayoutVars>
      </dgm:prSet>
      <dgm:spPr/>
    </dgm:pt>
    <dgm:pt modelId="{AA69F638-9E30-4377-ACA6-C0602DE53536}" type="pres">
      <dgm:prSet presAssocID="{3167656A-ECB0-4597-B726-273178BF19A9}" presName="composite" presStyleCnt="0"/>
      <dgm:spPr/>
    </dgm:pt>
    <dgm:pt modelId="{FB422A9B-20BC-4D06-A3A9-12FBDC8522E5}" type="pres">
      <dgm:prSet presAssocID="{3167656A-ECB0-4597-B726-273178BF19A9}" presName="parTx" presStyleLbl="alignNode1" presStyleIdx="0" presStyleCnt="3">
        <dgm:presLayoutVars>
          <dgm:chMax val="0"/>
          <dgm:chPref val="0"/>
          <dgm:bulletEnabled val="1"/>
        </dgm:presLayoutVars>
      </dgm:prSet>
      <dgm:spPr/>
    </dgm:pt>
    <dgm:pt modelId="{8DBF6078-2F9C-4802-B311-1F087D2D86FA}" type="pres">
      <dgm:prSet presAssocID="{3167656A-ECB0-4597-B726-273178BF19A9}" presName="desTx" presStyleLbl="alignAccFollowNode1" presStyleIdx="0" presStyleCnt="3">
        <dgm:presLayoutVars>
          <dgm:bulletEnabled val="1"/>
        </dgm:presLayoutVars>
      </dgm:prSet>
      <dgm:spPr/>
    </dgm:pt>
    <dgm:pt modelId="{C24F6791-02D4-4634-A110-E36919BAAAE5}" type="pres">
      <dgm:prSet presAssocID="{516BA81A-E9F1-4676-9A93-FEF465AE5EC5}" presName="space" presStyleCnt="0"/>
      <dgm:spPr/>
    </dgm:pt>
    <dgm:pt modelId="{9A63900C-3E88-4E74-B906-2AB7CEFB233F}" type="pres">
      <dgm:prSet presAssocID="{6EF5A36F-3598-4FFE-9EB2-F1611487DC3D}" presName="composite" presStyleCnt="0"/>
      <dgm:spPr/>
    </dgm:pt>
    <dgm:pt modelId="{665FF20C-7BBC-4CDE-9749-239B23FD4BDB}" type="pres">
      <dgm:prSet presAssocID="{6EF5A36F-3598-4FFE-9EB2-F1611487DC3D}" presName="parTx" presStyleLbl="alignNode1" presStyleIdx="1" presStyleCnt="3">
        <dgm:presLayoutVars>
          <dgm:chMax val="0"/>
          <dgm:chPref val="0"/>
          <dgm:bulletEnabled val="1"/>
        </dgm:presLayoutVars>
      </dgm:prSet>
      <dgm:spPr/>
    </dgm:pt>
    <dgm:pt modelId="{9117E56D-B67E-41ED-A562-1DE6EDFD52C2}" type="pres">
      <dgm:prSet presAssocID="{6EF5A36F-3598-4FFE-9EB2-F1611487DC3D}" presName="desTx" presStyleLbl="alignAccFollowNode1" presStyleIdx="1" presStyleCnt="3">
        <dgm:presLayoutVars>
          <dgm:bulletEnabled val="1"/>
        </dgm:presLayoutVars>
      </dgm:prSet>
      <dgm:spPr/>
    </dgm:pt>
    <dgm:pt modelId="{4A5C4289-142D-4561-908E-0750226382E6}" type="pres">
      <dgm:prSet presAssocID="{4D9B7608-5599-4FA4-83D8-549E975C9F2C}" presName="space" presStyleCnt="0"/>
      <dgm:spPr/>
    </dgm:pt>
    <dgm:pt modelId="{08F1FD86-1D86-4B94-B0CE-9154239224F9}" type="pres">
      <dgm:prSet presAssocID="{F0685834-5D22-4C27-9474-779E01136F16}" presName="composite" presStyleCnt="0"/>
      <dgm:spPr/>
    </dgm:pt>
    <dgm:pt modelId="{2E13FAA6-71E2-4C8B-8759-D3C00C3EE72F}" type="pres">
      <dgm:prSet presAssocID="{F0685834-5D22-4C27-9474-779E01136F16}" presName="parTx" presStyleLbl="alignNode1" presStyleIdx="2" presStyleCnt="3">
        <dgm:presLayoutVars>
          <dgm:chMax val="0"/>
          <dgm:chPref val="0"/>
          <dgm:bulletEnabled val="1"/>
        </dgm:presLayoutVars>
      </dgm:prSet>
      <dgm:spPr/>
    </dgm:pt>
    <dgm:pt modelId="{989BF79B-1388-4C77-B859-1CE347AE46BA}" type="pres">
      <dgm:prSet presAssocID="{F0685834-5D22-4C27-9474-779E01136F16}" presName="desTx" presStyleLbl="alignAccFollowNode1" presStyleIdx="2" presStyleCnt="3">
        <dgm:presLayoutVars>
          <dgm:bulletEnabled val="1"/>
        </dgm:presLayoutVars>
      </dgm:prSet>
      <dgm:spPr/>
    </dgm:pt>
  </dgm:ptLst>
  <dgm:cxnLst>
    <dgm:cxn modelId="{15D10028-23DE-4344-9DB6-8D99DEFE0F61}" type="presOf" srcId="{F0685834-5D22-4C27-9474-779E01136F16}" destId="{2E13FAA6-71E2-4C8B-8759-D3C00C3EE72F}" srcOrd="0" destOrd="0" presId="urn:microsoft.com/office/officeart/2005/8/layout/hList1"/>
    <dgm:cxn modelId="{1FB19C29-0AFE-4130-BBAB-B8F0CFA76385}" srcId="{AFE4C7A7-2FB4-4C20-BDE2-9CFCCAC674CE}" destId="{6EF5A36F-3598-4FFE-9EB2-F1611487DC3D}" srcOrd="1" destOrd="0" parTransId="{80E4ACEA-1B3B-49DF-AAEC-E029059C7E0D}" sibTransId="{4D9B7608-5599-4FA4-83D8-549E975C9F2C}"/>
    <dgm:cxn modelId="{247F9B3F-482A-4865-AB44-3165A89C59AF}" type="presOf" srcId="{AFE4C7A7-2FB4-4C20-BDE2-9CFCCAC674CE}" destId="{2DCA6E06-541E-4BC8-BF0D-48800EAA9E67}" srcOrd="0" destOrd="0" presId="urn:microsoft.com/office/officeart/2005/8/layout/hList1"/>
    <dgm:cxn modelId="{A309AB62-C34C-4EB7-ABDD-EB9BDB1D8B38}" srcId="{3167656A-ECB0-4597-B726-273178BF19A9}" destId="{2338232A-F78B-4559-8113-C774F8F362B9}" srcOrd="0" destOrd="0" parTransId="{9DB8EC5E-8A92-4220-BA1A-458995E64F45}" sibTransId="{D531BCE7-7782-45DE-BE8B-2B6D20BAC979}"/>
    <dgm:cxn modelId="{4612AF42-81D2-483E-998E-2B95595E8037}" srcId="{AFE4C7A7-2FB4-4C20-BDE2-9CFCCAC674CE}" destId="{F0685834-5D22-4C27-9474-779E01136F16}" srcOrd="2" destOrd="0" parTransId="{8D4CB1B4-0325-4201-BC3E-120084593304}" sibTransId="{5D828C56-BFD2-4AAE-99C4-4C0888A96311}"/>
    <dgm:cxn modelId="{B8CD4545-967E-4F64-AD0C-79D1EB6713E4}" srcId="{F0685834-5D22-4C27-9474-779E01136F16}" destId="{EC52D339-03FE-4F2B-8A61-EB4FFC952DBC}" srcOrd="0" destOrd="0" parTransId="{372ADE32-9505-441E-9D7E-01916FDE7813}" sibTransId="{54319919-C369-4616-A426-312BC8AE1551}"/>
    <dgm:cxn modelId="{0CAB2848-0B27-4B4E-945D-C3BC36200F1B}" type="presOf" srcId="{2338232A-F78B-4559-8113-C774F8F362B9}" destId="{8DBF6078-2F9C-4802-B311-1F087D2D86FA}" srcOrd="0" destOrd="0" presId="urn:microsoft.com/office/officeart/2005/8/layout/hList1"/>
    <dgm:cxn modelId="{E37D52AF-573D-413C-9B8A-CEC296CEC3E5}" type="presOf" srcId="{88DBD24B-2FF8-4B20-BA04-8DEB605B63ED}" destId="{9117E56D-B67E-41ED-A562-1DE6EDFD52C2}" srcOrd="0" destOrd="0" presId="urn:microsoft.com/office/officeart/2005/8/layout/hList1"/>
    <dgm:cxn modelId="{74760BD1-C826-4266-AFDB-062AA1D719B8}" srcId="{AFE4C7A7-2FB4-4C20-BDE2-9CFCCAC674CE}" destId="{3167656A-ECB0-4597-B726-273178BF19A9}" srcOrd="0" destOrd="0" parTransId="{8A3A082A-F325-4ED6-B044-AB02A0CD4E08}" sibTransId="{516BA81A-E9F1-4676-9A93-FEF465AE5EC5}"/>
    <dgm:cxn modelId="{746BAAD3-0CA9-44CF-910D-F85C2168B255}" type="presOf" srcId="{3167656A-ECB0-4597-B726-273178BF19A9}" destId="{FB422A9B-20BC-4D06-A3A9-12FBDC8522E5}" srcOrd="0" destOrd="0" presId="urn:microsoft.com/office/officeart/2005/8/layout/hList1"/>
    <dgm:cxn modelId="{CC255DD6-7736-4177-9C3D-8795FCF1D285}" srcId="{6EF5A36F-3598-4FFE-9EB2-F1611487DC3D}" destId="{88DBD24B-2FF8-4B20-BA04-8DEB605B63ED}" srcOrd="0" destOrd="0" parTransId="{DB9FF213-BD04-40BB-93EE-029204916D3A}" sibTransId="{CAD14CFD-89CC-49E3-B4DA-11D535A3D6CA}"/>
    <dgm:cxn modelId="{01EFC3DB-48D7-4FB8-A1FD-E25BB11F3EA9}" type="presOf" srcId="{6EF5A36F-3598-4FFE-9EB2-F1611487DC3D}" destId="{665FF20C-7BBC-4CDE-9749-239B23FD4BDB}" srcOrd="0" destOrd="0" presId="urn:microsoft.com/office/officeart/2005/8/layout/hList1"/>
    <dgm:cxn modelId="{023848EB-2848-4830-B757-DE38CFDF378B}" type="presOf" srcId="{EC52D339-03FE-4F2B-8A61-EB4FFC952DBC}" destId="{989BF79B-1388-4C77-B859-1CE347AE46BA}" srcOrd="0" destOrd="0" presId="urn:microsoft.com/office/officeart/2005/8/layout/hList1"/>
    <dgm:cxn modelId="{5D1234FC-1C47-4F80-AD12-9251F65E36E0}" type="presParOf" srcId="{2DCA6E06-541E-4BC8-BF0D-48800EAA9E67}" destId="{AA69F638-9E30-4377-ACA6-C0602DE53536}" srcOrd="0" destOrd="0" presId="urn:microsoft.com/office/officeart/2005/8/layout/hList1"/>
    <dgm:cxn modelId="{6EF56F45-4AA6-41AD-B643-14DBE8C2B1F9}" type="presParOf" srcId="{AA69F638-9E30-4377-ACA6-C0602DE53536}" destId="{FB422A9B-20BC-4D06-A3A9-12FBDC8522E5}" srcOrd="0" destOrd="0" presId="urn:microsoft.com/office/officeart/2005/8/layout/hList1"/>
    <dgm:cxn modelId="{43E4BE28-BAF0-4CEA-B449-B9094163549E}" type="presParOf" srcId="{AA69F638-9E30-4377-ACA6-C0602DE53536}" destId="{8DBF6078-2F9C-4802-B311-1F087D2D86FA}" srcOrd="1" destOrd="0" presId="urn:microsoft.com/office/officeart/2005/8/layout/hList1"/>
    <dgm:cxn modelId="{9C83946D-A81F-4B16-928D-5CBF214ABEBD}" type="presParOf" srcId="{2DCA6E06-541E-4BC8-BF0D-48800EAA9E67}" destId="{C24F6791-02D4-4634-A110-E36919BAAAE5}" srcOrd="1" destOrd="0" presId="urn:microsoft.com/office/officeart/2005/8/layout/hList1"/>
    <dgm:cxn modelId="{326BA8A1-8D02-40AE-AD9F-DE2AB6FB3335}" type="presParOf" srcId="{2DCA6E06-541E-4BC8-BF0D-48800EAA9E67}" destId="{9A63900C-3E88-4E74-B906-2AB7CEFB233F}" srcOrd="2" destOrd="0" presId="urn:microsoft.com/office/officeart/2005/8/layout/hList1"/>
    <dgm:cxn modelId="{D56A835B-CDD6-4B21-8602-7CB511B091A0}" type="presParOf" srcId="{9A63900C-3E88-4E74-B906-2AB7CEFB233F}" destId="{665FF20C-7BBC-4CDE-9749-239B23FD4BDB}" srcOrd="0" destOrd="0" presId="urn:microsoft.com/office/officeart/2005/8/layout/hList1"/>
    <dgm:cxn modelId="{02A55DB9-DFEF-469D-ACAF-BE7F57E19F63}" type="presParOf" srcId="{9A63900C-3E88-4E74-B906-2AB7CEFB233F}" destId="{9117E56D-B67E-41ED-A562-1DE6EDFD52C2}" srcOrd="1" destOrd="0" presId="urn:microsoft.com/office/officeart/2005/8/layout/hList1"/>
    <dgm:cxn modelId="{AC28763A-9484-43A3-846A-EED1045FE9B3}" type="presParOf" srcId="{2DCA6E06-541E-4BC8-BF0D-48800EAA9E67}" destId="{4A5C4289-142D-4561-908E-0750226382E6}" srcOrd="3" destOrd="0" presId="urn:microsoft.com/office/officeart/2005/8/layout/hList1"/>
    <dgm:cxn modelId="{511D9A5E-0423-49EC-9974-DDBC9F6BAFC7}" type="presParOf" srcId="{2DCA6E06-541E-4BC8-BF0D-48800EAA9E67}" destId="{08F1FD86-1D86-4B94-B0CE-9154239224F9}" srcOrd="4" destOrd="0" presId="urn:microsoft.com/office/officeart/2005/8/layout/hList1"/>
    <dgm:cxn modelId="{324B5575-2495-4177-9E76-801BC7C94CD4}" type="presParOf" srcId="{08F1FD86-1D86-4B94-B0CE-9154239224F9}" destId="{2E13FAA6-71E2-4C8B-8759-D3C00C3EE72F}" srcOrd="0" destOrd="0" presId="urn:microsoft.com/office/officeart/2005/8/layout/hList1"/>
    <dgm:cxn modelId="{BC2B2576-A862-48A5-8453-67F856D49B46}" type="presParOf" srcId="{08F1FD86-1D86-4B94-B0CE-9154239224F9}" destId="{989BF79B-1388-4C77-B859-1CE347AE46BA}" srcOrd="1" destOrd="0" presId="urn:microsoft.com/office/officeart/2005/8/layout/h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20CC507-A00C-498E-BEDD-7ABBC9A5009D}">
      <dsp:nvSpPr>
        <dsp:cNvPr id="0" name=""/>
        <dsp:cNvSpPr/>
      </dsp:nvSpPr>
      <dsp:spPr>
        <a:xfrm>
          <a:off x="0" y="642"/>
          <a:ext cx="5990135" cy="0"/>
        </a:xfrm>
        <a:prstGeom prst="line">
          <a:avLst/>
        </a:prstGeom>
        <a:solidFill>
          <a:schemeClr val="accent2">
            <a:hueOff val="0"/>
            <a:satOff val="0"/>
            <a:lumOff val="0"/>
            <a:alphaOff val="0"/>
          </a:schemeClr>
        </a:solidFill>
        <a:ln w="13970"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63044C8-2274-4370-8C16-8BA3803F2E61}">
      <dsp:nvSpPr>
        <dsp:cNvPr id="0" name=""/>
        <dsp:cNvSpPr/>
      </dsp:nvSpPr>
      <dsp:spPr>
        <a:xfrm>
          <a:off x="0" y="642"/>
          <a:ext cx="5990135" cy="105215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86690" tIns="186690" rIns="186690" bIns="186690" numCol="1" spcCol="1270" anchor="t" anchorCtr="0">
          <a:noAutofit/>
        </a:bodyPr>
        <a:lstStyle/>
        <a:p>
          <a:pPr marL="0" lvl="0" indent="0" algn="l" defTabSz="2178050">
            <a:lnSpc>
              <a:spcPct val="90000"/>
            </a:lnSpc>
            <a:spcBef>
              <a:spcPct val="0"/>
            </a:spcBef>
            <a:spcAft>
              <a:spcPct val="35000"/>
            </a:spcAft>
            <a:buNone/>
          </a:pPr>
          <a:r>
            <a:rPr lang="en-US" sz="4900" kern="1200"/>
            <a:t>Problem Statement</a:t>
          </a:r>
        </a:p>
      </dsp:txBody>
      <dsp:txXfrm>
        <a:off x="0" y="642"/>
        <a:ext cx="5990135" cy="1052153"/>
      </dsp:txXfrm>
    </dsp:sp>
    <dsp:sp modelId="{8F7905C1-F6AB-402F-A3BB-FDFCF1BE1818}">
      <dsp:nvSpPr>
        <dsp:cNvPr id="0" name=""/>
        <dsp:cNvSpPr/>
      </dsp:nvSpPr>
      <dsp:spPr>
        <a:xfrm>
          <a:off x="0" y="1052796"/>
          <a:ext cx="5990135" cy="0"/>
        </a:xfrm>
        <a:prstGeom prst="line">
          <a:avLst/>
        </a:prstGeom>
        <a:solidFill>
          <a:schemeClr val="accent2">
            <a:hueOff val="-1856167"/>
            <a:satOff val="606"/>
            <a:lumOff val="-539"/>
            <a:alphaOff val="0"/>
          </a:schemeClr>
        </a:solidFill>
        <a:ln w="13970" cap="flat" cmpd="sng" algn="ctr">
          <a:solidFill>
            <a:schemeClr val="accent2">
              <a:hueOff val="-1856167"/>
              <a:satOff val="606"/>
              <a:lumOff val="-539"/>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7F2F75DC-DB2F-4636-94F4-6C2F1172EFBE}">
      <dsp:nvSpPr>
        <dsp:cNvPr id="0" name=""/>
        <dsp:cNvSpPr/>
      </dsp:nvSpPr>
      <dsp:spPr>
        <a:xfrm>
          <a:off x="0" y="1052796"/>
          <a:ext cx="5990135" cy="105215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86690" tIns="186690" rIns="186690" bIns="186690" numCol="1" spcCol="1270" anchor="t" anchorCtr="0">
          <a:noAutofit/>
        </a:bodyPr>
        <a:lstStyle/>
        <a:p>
          <a:pPr marL="0" lvl="0" indent="0" algn="l" defTabSz="2178050">
            <a:lnSpc>
              <a:spcPct val="90000"/>
            </a:lnSpc>
            <a:spcBef>
              <a:spcPct val="0"/>
            </a:spcBef>
            <a:spcAft>
              <a:spcPct val="35000"/>
            </a:spcAft>
            <a:buNone/>
          </a:pPr>
          <a:r>
            <a:rPr lang="en-US" sz="4900" kern="1200"/>
            <a:t>Data</a:t>
          </a:r>
        </a:p>
      </dsp:txBody>
      <dsp:txXfrm>
        <a:off x="0" y="1052796"/>
        <a:ext cx="5990135" cy="1052153"/>
      </dsp:txXfrm>
    </dsp:sp>
    <dsp:sp modelId="{EE72C3D9-C4C7-46E5-A65C-D86DE1B19DE2}">
      <dsp:nvSpPr>
        <dsp:cNvPr id="0" name=""/>
        <dsp:cNvSpPr/>
      </dsp:nvSpPr>
      <dsp:spPr>
        <a:xfrm>
          <a:off x="0" y="2104950"/>
          <a:ext cx="5990135" cy="0"/>
        </a:xfrm>
        <a:prstGeom prst="line">
          <a:avLst/>
        </a:prstGeom>
        <a:solidFill>
          <a:schemeClr val="accent2">
            <a:hueOff val="-3712334"/>
            <a:satOff val="1211"/>
            <a:lumOff val="-1079"/>
            <a:alphaOff val="0"/>
          </a:schemeClr>
        </a:solidFill>
        <a:ln w="13970" cap="flat" cmpd="sng" algn="ctr">
          <a:solidFill>
            <a:schemeClr val="accent2">
              <a:hueOff val="-3712334"/>
              <a:satOff val="1211"/>
              <a:lumOff val="-1079"/>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0647724-5F78-4C0A-8898-EB8610D753A8}">
      <dsp:nvSpPr>
        <dsp:cNvPr id="0" name=""/>
        <dsp:cNvSpPr/>
      </dsp:nvSpPr>
      <dsp:spPr>
        <a:xfrm>
          <a:off x="0" y="2104950"/>
          <a:ext cx="5990135" cy="105215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86690" tIns="186690" rIns="186690" bIns="186690" numCol="1" spcCol="1270" anchor="t" anchorCtr="0">
          <a:noAutofit/>
        </a:bodyPr>
        <a:lstStyle/>
        <a:p>
          <a:pPr marL="0" lvl="0" indent="0" algn="l" defTabSz="2178050">
            <a:lnSpc>
              <a:spcPct val="90000"/>
            </a:lnSpc>
            <a:spcBef>
              <a:spcPct val="0"/>
            </a:spcBef>
            <a:spcAft>
              <a:spcPct val="35000"/>
            </a:spcAft>
            <a:buNone/>
          </a:pPr>
          <a:r>
            <a:rPr lang="en-US" sz="4900" kern="1200"/>
            <a:t>Model(s)</a:t>
          </a:r>
        </a:p>
      </dsp:txBody>
      <dsp:txXfrm>
        <a:off x="0" y="2104950"/>
        <a:ext cx="5990135" cy="1052153"/>
      </dsp:txXfrm>
    </dsp:sp>
    <dsp:sp modelId="{4F68C71B-0F1C-44F7-BD1E-2B22785F6F2C}">
      <dsp:nvSpPr>
        <dsp:cNvPr id="0" name=""/>
        <dsp:cNvSpPr/>
      </dsp:nvSpPr>
      <dsp:spPr>
        <a:xfrm>
          <a:off x="0" y="3157103"/>
          <a:ext cx="5990135" cy="0"/>
        </a:xfrm>
        <a:prstGeom prst="line">
          <a:avLst/>
        </a:prstGeom>
        <a:solidFill>
          <a:schemeClr val="accent2">
            <a:hueOff val="-5568501"/>
            <a:satOff val="1817"/>
            <a:lumOff val="-1618"/>
            <a:alphaOff val="0"/>
          </a:schemeClr>
        </a:solidFill>
        <a:ln w="13970" cap="flat" cmpd="sng" algn="ctr">
          <a:solidFill>
            <a:schemeClr val="accent2">
              <a:hueOff val="-5568501"/>
              <a:satOff val="1817"/>
              <a:lumOff val="-1618"/>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109D79D-C026-4F3F-AB4A-657BD7BE90AA}">
      <dsp:nvSpPr>
        <dsp:cNvPr id="0" name=""/>
        <dsp:cNvSpPr/>
      </dsp:nvSpPr>
      <dsp:spPr>
        <a:xfrm>
          <a:off x="0" y="3157103"/>
          <a:ext cx="5990135" cy="105215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86690" tIns="186690" rIns="186690" bIns="186690" numCol="1" spcCol="1270" anchor="t" anchorCtr="0">
          <a:noAutofit/>
        </a:bodyPr>
        <a:lstStyle/>
        <a:p>
          <a:pPr marL="0" lvl="0" indent="0" algn="l" defTabSz="2178050">
            <a:lnSpc>
              <a:spcPct val="90000"/>
            </a:lnSpc>
            <a:spcBef>
              <a:spcPct val="0"/>
            </a:spcBef>
            <a:spcAft>
              <a:spcPct val="35000"/>
            </a:spcAft>
            <a:buNone/>
          </a:pPr>
          <a:r>
            <a:rPr lang="en-US" sz="4900" kern="1200"/>
            <a:t>Results</a:t>
          </a:r>
        </a:p>
      </dsp:txBody>
      <dsp:txXfrm>
        <a:off x="0" y="3157103"/>
        <a:ext cx="5990135" cy="1052153"/>
      </dsp:txXfrm>
    </dsp:sp>
    <dsp:sp modelId="{3DD9BB91-A294-4FEC-BBE5-AB4C9CA12487}">
      <dsp:nvSpPr>
        <dsp:cNvPr id="0" name=""/>
        <dsp:cNvSpPr/>
      </dsp:nvSpPr>
      <dsp:spPr>
        <a:xfrm>
          <a:off x="0" y="4209257"/>
          <a:ext cx="5990135" cy="0"/>
        </a:xfrm>
        <a:prstGeom prst="line">
          <a:avLst/>
        </a:prstGeom>
        <a:solidFill>
          <a:schemeClr val="accent2">
            <a:hueOff val="-7424668"/>
            <a:satOff val="2422"/>
            <a:lumOff val="-2157"/>
            <a:alphaOff val="0"/>
          </a:schemeClr>
        </a:solidFill>
        <a:ln w="13970" cap="flat" cmpd="sng" algn="ctr">
          <a:solidFill>
            <a:schemeClr val="accent2">
              <a:hueOff val="-7424668"/>
              <a:satOff val="2422"/>
              <a:lumOff val="-2157"/>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C6D20F5F-26D4-4F09-B964-CC132EDA4E4F}">
      <dsp:nvSpPr>
        <dsp:cNvPr id="0" name=""/>
        <dsp:cNvSpPr/>
      </dsp:nvSpPr>
      <dsp:spPr>
        <a:xfrm>
          <a:off x="0" y="4209257"/>
          <a:ext cx="5990135" cy="105215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86690" tIns="186690" rIns="186690" bIns="186690" numCol="1" spcCol="1270" anchor="t" anchorCtr="0">
          <a:noAutofit/>
        </a:bodyPr>
        <a:lstStyle/>
        <a:p>
          <a:pPr marL="0" lvl="0" indent="0" algn="l" defTabSz="2178050">
            <a:lnSpc>
              <a:spcPct val="90000"/>
            </a:lnSpc>
            <a:spcBef>
              <a:spcPct val="0"/>
            </a:spcBef>
            <a:spcAft>
              <a:spcPct val="35000"/>
            </a:spcAft>
            <a:buNone/>
          </a:pPr>
          <a:r>
            <a:rPr lang="en-US" sz="4900" kern="1200"/>
            <a:t>Considerations</a:t>
          </a:r>
        </a:p>
      </dsp:txBody>
      <dsp:txXfrm>
        <a:off x="0" y="4209257"/>
        <a:ext cx="5990135" cy="1052153"/>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B422A9B-20BC-4D06-A3A9-12FBDC8522E5}">
      <dsp:nvSpPr>
        <dsp:cNvPr id="0" name=""/>
        <dsp:cNvSpPr/>
      </dsp:nvSpPr>
      <dsp:spPr>
        <a:xfrm>
          <a:off x="3080" y="138027"/>
          <a:ext cx="3003667" cy="845533"/>
        </a:xfrm>
        <a:prstGeom prst="rect">
          <a:avLst/>
        </a:prstGeom>
        <a:solidFill>
          <a:schemeClr val="accent5">
            <a:hueOff val="0"/>
            <a:satOff val="0"/>
            <a:lumOff val="0"/>
            <a:alphaOff val="0"/>
          </a:schemeClr>
        </a:solidFill>
        <a:ln w="13970" cap="flat" cmpd="sng" algn="ctr">
          <a:solidFill>
            <a:schemeClr val="accent5">
              <a:hueOff val="0"/>
              <a:satOff val="0"/>
              <a:lumOff val="0"/>
              <a:alphaOff val="0"/>
            </a:schemeClr>
          </a:solidFill>
          <a:prstDash val="solid"/>
        </a:ln>
        <a:effectLst/>
      </dsp:spPr>
      <dsp:style>
        <a:lnRef idx="2">
          <a:scrgbClr r="0" g="0" b="0"/>
        </a:lnRef>
        <a:fillRef idx="1">
          <a:scrgbClr r="0" g="0" b="0"/>
        </a:fillRef>
        <a:effectRef idx="1">
          <a:scrgbClr r="0" g="0" b="0"/>
        </a:effectRef>
        <a:fontRef idx="minor">
          <a:schemeClr val="lt1"/>
        </a:fontRef>
      </dsp:style>
      <dsp:txBody>
        <a:bodyPr spcFirstLastPara="0" vert="horz" wrap="square" lIns="120904" tIns="69088" rIns="120904" bIns="69088" numCol="1" spcCol="1270" anchor="ctr" anchorCtr="0">
          <a:noAutofit/>
        </a:bodyPr>
        <a:lstStyle/>
        <a:p>
          <a:pPr marL="0" lvl="0" indent="0" algn="ctr" defTabSz="755650">
            <a:lnSpc>
              <a:spcPct val="90000"/>
            </a:lnSpc>
            <a:spcBef>
              <a:spcPct val="0"/>
            </a:spcBef>
            <a:spcAft>
              <a:spcPct val="35000"/>
            </a:spcAft>
            <a:buNone/>
          </a:pPr>
          <a:r>
            <a:rPr lang="en-US" sz="1700" b="1" kern="1200"/>
            <a:t>Difficulty labels are subjective and time-dependent</a:t>
          </a:r>
          <a:endParaRPr lang="en-US" sz="1700" kern="1200"/>
        </a:p>
      </dsp:txBody>
      <dsp:txXfrm>
        <a:off x="3080" y="138027"/>
        <a:ext cx="3003667" cy="845533"/>
      </dsp:txXfrm>
    </dsp:sp>
    <dsp:sp modelId="{8DBF6078-2F9C-4802-B311-1F087D2D86FA}">
      <dsp:nvSpPr>
        <dsp:cNvPr id="0" name=""/>
        <dsp:cNvSpPr/>
      </dsp:nvSpPr>
      <dsp:spPr>
        <a:xfrm>
          <a:off x="3080" y="983560"/>
          <a:ext cx="3003667" cy="3079890"/>
        </a:xfrm>
        <a:prstGeom prst="rect">
          <a:avLst/>
        </a:prstGeom>
        <a:solidFill>
          <a:schemeClr val="accent5">
            <a:alpha val="90000"/>
            <a:tint val="40000"/>
            <a:hueOff val="0"/>
            <a:satOff val="0"/>
            <a:lumOff val="0"/>
            <a:alphaOff val="0"/>
          </a:schemeClr>
        </a:solidFill>
        <a:ln w="13970" cap="flat" cmpd="sng" algn="ctr">
          <a:solidFill>
            <a:schemeClr val="accent5">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0678" tIns="90678" rIns="120904" bIns="136017" numCol="1" spcCol="1270" anchor="t" anchorCtr="0">
          <a:noAutofit/>
        </a:bodyPr>
        <a:lstStyle/>
        <a:p>
          <a:pPr marL="171450" lvl="1" indent="-171450" algn="l" defTabSz="755650">
            <a:lnSpc>
              <a:spcPct val="90000"/>
            </a:lnSpc>
            <a:spcBef>
              <a:spcPct val="0"/>
            </a:spcBef>
            <a:spcAft>
              <a:spcPct val="15000"/>
            </a:spcAft>
            <a:buChar char="•"/>
          </a:pPr>
          <a:r>
            <a:rPr lang="en-US" sz="1700" kern="1200"/>
            <a:t>Problem difficulty ratings are based on human judgment and contest performance, which can vary over time as participant skill levels and problem standards evolve. As a result, the same problem might receive a different rating if introduced in a different era</a:t>
          </a:r>
        </a:p>
      </dsp:txBody>
      <dsp:txXfrm>
        <a:off x="3080" y="983560"/>
        <a:ext cx="3003667" cy="3079890"/>
      </dsp:txXfrm>
    </dsp:sp>
    <dsp:sp modelId="{665FF20C-7BBC-4CDE-9749-239B23FD4BDB}">
      <dsp:nvSpPr>
        <dsp:cNvPr id="0" name=""/>
        <dsp:cNvSpPr/>
      </dsp:nvSpPr>
      <dsp:spPr>
        <a:xfrm>
          <a:off x="3427261" y="138027"/>
          <a:ext cx="3003667" cy="845533"/>
        </a:xfrm>
        <a:prstGeom prst="rect">
          <a:avLst/>
        </a:prstGeom>
        <a:solidFill>
          <a:schemeClr val="accent5">
            <a:hueOff val="0"/>
            <a:satOff val="0"/>
            <a:lumOff val="0"/>
            <a:alphaOff val="0"/>
          </a:schemeClr>
        </a:solidFill>
        <a:ln w="13970" cap="flat" cmpd="sng" algn="ctr">
          <a:solidFill>
            <a:schemeClr val="accent5">
              <a:hueOff val="0"/>
              <a:satOff val="0"/>
              <a:lumOff val="0"/>
              <a:alphaOff val="0"/>
            </a:schemeClr>
          </a:solidFill>
          <a:prstDash val="solid"/>
        </a:ln>
        <a:effectLst/>
      </dsp:spPr>
      <dsp:style>
        <a:lnRef idx="2">
          <a:scrgbClr r="0" g="0" b="0"/>
        </a:lnRef>
        <a:fillRef idx="1">
          <a:scrgbClr r="0" g="0" b="0"/>
        </a:fillRef>
        <a:effectRef idx="1">
          <a:scrgbClr r="0" g="0" b="0"/>
        </a:effectRef>
        <a:fontRef idx="minor">
          <a:schemeClr val="lt1"/>
        </a:fontRef>
      </dsp:style>
      <dsp:txBody>
        <a:bodyPr spcFirstLastPara="0" vert="horz" wrap="square" lIns="120904" tIns="69088" rIns="120904" bIns="69088" numCol="1" spcCol="1270" anchor="ctr" anchorCtr="0">
          <a:noAutofit/>
        </a:bodyPr>
        <a:lstStyle/>
        <a:p>
          <a:pPr marL="0" lvl="0" indent="0" algn="ctr" defTabSz="755650">
            <a:lnSpc>
              <a:spcPct val="90000"/>
            </a:lnSpc>
            <a:spcBef>
              <a:spcPct val="0"/>
            </a:spcBef>
            <a:spcAft>
              <a:spcPct val="35000"/>
            </a:spcAft>
            <a:buNone/>
          </a:pPr>
          <a:r>
            <a:rPr lang="en-US" sz="1700" b="1" kern="1200"/>
            <a:t>Tags and editorials excluded to prevent leakage</a:t>
          </a:r>
          <a:endParaRPr lang="en-US" sz="1700" kern="1200"/>
        </a:p>
      </dsp:txBody>
      <dsp:txXfrm>
        <a:off x="3427261" y="138027"/>
        <a:ext cx="3003667" cy="845533"/>
      </dsp:txXfrm>
    </dsp:sp>
    <dsp:sp modelId="{9117E56D-B67E-41ED-A562-1DE6EDFD52C2}">
      <dsp:nvSpPr>
        <dsp:cNvPr id="0" name=""/>
        <dsp:cNvSpPr/>
      </dsp:nvSpPr>
      <dsp:spPr>
        <a:xfrm>
          <a:off x="3427261" y="983560"/>
          <a:ext cx="3003667" cy="3079890"/>
        </a:xfrm>
        <a:prstGeom prst="rect">
          <a:avLst/>
        </a:prstGeom>
        <a:solidFill>
          <a:schemeClr val="accent5">
            <a:alpha val="90000"/>
            <a:tint val="40000"/>
            <a:hueOff val="0"/>
            <a:satOff val="0"/>
            <a:lumOff val="0"/>
            <a:alphaOff val="0"/>
          </a:schemeClr>
        </a:solidFill>
        <a:ln w="13970" cap="flat" cmpd="sng" algn="ctr">
          <a:solidFill>
            <a:schemeClr val="accent5">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0678" tIns="90678" rIns="120904" bIns="136017" numCol="1" spcCol="1270" anchor="t" anchorCtr="0">
          <a:noAutofit/>
        </a:bodyPr>
        <a:lstStyle/>
        <a:p>
          <a:pPr marL="171450" lvl="1" indent="-171450" algn="l" defTabSz="755650">
            <a:lnSpc>
              <a:spcPct val="90000"/>
            </a:lnSpc>
            <a:spcBef>
              <a:spcPct val="0"/>
            </a:spcBef>
            <a:spcAft>
              <a:spcPct val="15000"/>
            </a:spcAft>
            <a:buChar char="•"/>
          </a:pPr>
          <a:r>
            <a:rPr lang="en-US" sz="1700" kern="1200" dirty="0"/>
            <a:t>Tags and editorials are often assigned after difficulty is established and may reflect expert knowledge of the solution. Including them could leak post-hoc information, so they were excluded to ensure realistic and fair evaluation.</a:t>
          </a:r>
        </a:p>
      </dsp:txBody>
      <dsp:txXfrm>
        <a:off x="3427261" y="983560"/>
        <a:ext cx="3003667" cy="3079890"/>
      </dsp:txXfrm>
    </dsp:sp>
    <dsp:sp modelId="{2E13FAA6-71E2-4C8B-8759-D3C00C3EE72F}">
      <dsp:nvSpPr>
        <dsp:cNvPr id="0" name=""/>
        <dsp:cNvSpPr/>
      </dsp:nvSpPr>
      <dsp:spPr>
        <a:xfrm>
          <a:off x="6851442" y="138027"/>
          <a:ext cx="3003667" cy="845533"/>
        </a:xfrm>
        <a:prstGeom prst="rect">
          <a:avLst/>
        </a:prstGeom>
        <a:solidFill>
          <a:schemeClr val="accent5">
            <a:hueOff val="0"/>
            <a:satOff val="0"/>
            <a:lumOff val="0"/>
            <a:alphaOff val="0"/>
          </a:schemeClr>
        </a:solidFill>
        <a:ln w="13970" cap="flat" cmpd="sng" algn="ctr">
          <a:solidFill>
            <a:schemeClr val="accent5">
              <a:hueOff val="0"/>
              <a:satOff val="0"/>
              <a:lumOff val="0"/>
              <a:alphaOff val="0"/>
            </a:schemeClr>
          </a:solidFill>
          <a:prstDash val="solid"/>
        </a:ln>
        <a:effectLst/>
      </dsp:spPr>
      <dsp:style>
        <a:lnRef idx="2">
          <a:scrgbClr r="0" g="0" b="0"/>
        </a:lnRef>
        <a:fillRef idx="1">
          <a:scrgbClr r="0" g="0" b="0"/>
        </a:fillRef>
        <a:effectRef idx="1">
          <a:scrgbClr r="0" g="0" b="0"/>
        </a:effectRef>
        <a:fontRef idx="minor">
          <a:schemeClr val="lt1"/>
        </a:fontRef>
      </dsp:style>
      <dsp:txBody>
        <a:bodyPr spcFirstLastPara="0" vert="horz" wrap="square" lIns="120904" tIns="69088" rIns="120904" bIns="69088" numCol="1" spcCol="1270" anchor="ctr" anchorCtr="0">
          <a:noAutofit/>
        </a:bodyPr>
        <a:lstStyle/>
        <a:p>
          <a:pPr marL="0" lvl="0" indent="0" algn="ctr" defTabSz="755650">
            <a:lnSpc>
              <a:spcPct val="90000"/>
            </a:lnSpc>
            <a:spcBef>
              <a:spcPct val="0"/>
            </a:spcBef>
            <a:spcAft>
              <a:spcPct val="35000"/>
            </a:spcAft>
            <a:buNone/>
          </a:pPr>
          <a:r>
            <a:rPr lang="en-US" sz="1700" b="1" kern="1200"/>
            <a:t>Generalization to new contest formats may vary</a:t>
          </a:r>
          <a:endParaRPr lang="en-US" sz="1700" kern="1200"/>
        </a:p>
      </dsp:txBody>
      <dsp:txXfrm>
        <a:off x="6851442" y="138027"/>
        <a:ext cx="3003667" cy="845533"/>
      </dsp:txXfrm>
    </dsp:sp>
    <dsp:sp modelId="{989BF79B-1388-4C77-B859-1CE347AE46BA}">
      <dsp:nvSpPr>
        <dsp:cNvPr id="0" name=""/>
        <dsp:cNvSpPr/>
      </dsp:nvSpPr>
      <dsp:spPr>
        <a:xfrm>
          <a:off x="6851442" y="983560"/>
          <a:ext cx="3003667" cy="3079890"/>
        </a:xfrm>
        <a:prstGeom prst="rect">
          <a:avLst/>
        </a:prstGeom>
        <a:solidFill>
          <a:schemeClr val="accent5">
            <a:alpha val="90000"/>
            <a:tint val="40000"/>
            <a:hueOff val="0"/>
            <a:satOff val="0"/>
            <a:lumOff val="0"/>
            <a:alphaOff val="0"/>
          </a:schemeClr>
        </a:solidFill>
        <a:ln w="13970" cap="flat" cmpd="sng" algn="ctr">
          <a:solidFill>
            <a:schemeClr val="accent5">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0678" tIns="90678" rIns="120904" bIns="136017" numCol="1" spcCol="1270" anchor="t" anchorCtr="0">
          <a:noAutofit/>
        </a:bodyPr>
        <a:lstStyle/>
        <a:p>
          <a:pPr marL="171450" lvl="1" indent="-171450" algn="l" defTabSz="755650">
            <a:lnSpc>
              <a:spcPct val="90000"/>
            </a:lnSpc>
            <a:spcBef>
              <a:spcPct val="0"/>
            </a:spcBef>
            <a:spcAft>
              <a:spcPct val="15000"/>
            </a:spcAft>
            <a:buChar char="•"/>
          </a:pPr>
          <a:r>
            <a:rPr lang="en-US" sz="1700" kern="1200"/>
            <a:t>The model is trained on historical contest data and may be less accurate when applied to significantly different or novel contest formats. Continuous retraining or adaptation would be needed to maintain performance over time.</a:t>
          </a:r>
        </a:p>
      </dsp:txBody>
      <dsp:txXfrm>
        <a:off x="6851442" y="983560"/>
        <a:ext cx="3003667" cy="3079890"/>
      </dsp:txXfrm>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2.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C1E397F-390D-47C1-8A81-4D6636D006F6}" type="datetimeFigureOut">
              <a:rPr lang="en-US" smtClean="0"/>
              <a:t>12/15/2025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4E2E3F8-3E0C-4B42-AA2B-7223A25409D4}" type="slidenum">
              <a:rPr lang="en-US" smtClean="0"/>
              <a:t>‹#›</a:t>
            </a:fld>
            <a:endParaRPr lang="en-US"/>
          </a:p>
        </p:txBody>
      </p:sp>
    </p:spTree>
    <p:extLst>
      <p:ext uri="{BB962C8B-B14F-4D97-AF65-F5344CB8AC3E}">
        <p14:creationId xmlns:p14="http://schemas.microsoft.com/office/powerpoint/2010/main" val="4140657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4E2E3F8-3E0C-4B42-AA2B-7223A25409D4}" type="slidenum">
              <a:rPr lang="en-US" smtClean="0"/>
              <a:t>2</a:t>
            </a:fld>
            <a:endParaRPr lang="en-US"/>
          </a:p>
        </p:txBody>
      </p:sp>
    </p:spTree>
    <p:extLst>
      <p:ext uri="{BB962C8B-B14F-4D97-AF65-F5344CB8AC3E}">
        <p14:creationId xmlns:p14="http://schemas.microsoft.com/office/powerpoint/2010/main" val="5174447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4E2E3F8-3E0C-4B42-AA2B-7223A25409D4}" type="slidenum">
              <a:rPr lang="en-US" smtClean="0"/>
              <a:t>10</a:t>
            </a:fld>
            <a:endParaRPr lang="en-US"/>
          </a:p>
        </p:txBody>
      </p:sp>
    </p:spTree>
    <p:extLst>
      <p:ext uri="{BB962C8B-B14F-4D97-AF65-F5344CB8AC3E}">
        <p14:creationId xmlns:p14="http://schemas.microsoft.com/office/powerpoint/2010/main" val="36926689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2">
            <a:lumMod val="75000"/>
          </a:scheme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261872" y="758952"/>
            <a:ext cx="9418320" cy="4041648"/>
          </a:xfrm>
        </p:spPr>
        <p:txBody>
          <a:bodyPr anchor="b">
            <a:normAutofit/>
          </a:bodyPr>
          <a:lstStyle>
            <a:lvl1pPr algn="l">
              <a:lnSpc>
                <a:spcPct val="85000"/>
              </a:lnSpc>
              <a:defRPr sz="7200" baseline="0">
                <a:solidFill>
                  <a:schemeClr val="tx1"/>
                </a:solidFill>
              </a:defRPr>
            </a:lvl1pPr>
          </a:lstStyle>
          <a:p>
            <a:r>
              <a:rPr lang="en-US"/>
              <a:t>Click to edit Master title style</a:t>
            </a:r>
            <a:endParaRPr lang="en-US" dirty="0"/>
          </a:p>
        </p:txBody>
      </p:sp>
      <p:sp>
        <p:nvSpPr>
          <p:cNvPr id="3" name="Subtitle 2"/>
          <p:cNvSpPr>
            <a:spLocks noGrp="1"/>
          </p:cNvSpPr>
          <p:nvPr>
            <p:ph type="subTitle" idx="1"/>
          </p:nvPr>
        </p:nvSpPr>
        <p:spPr>
          <a:xfrm>
            <a:off x="1261872" y="4800600"/>
            <a:ext cx="9418320" cy="1691640"/>
          </a:xfrm>
        </p:spPr>
        <p:txBody>
          <a:bodyPr>
            <a:normAutofit/>
          </a:bodyPr>
          <a:lstStyle>
            <a:lvl1pPr marL="0" indent="0" algn="l">
              <a:buNone/>
              <a:defRPr sz="2200" baseline="0">
                <a:solidFill>
                  <a:schemeClr val="tx1">
                    <a:lumMod val="75000"/>
                  </a:schemeClr>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defRPr>
                <a:solidFill>
                  <a:schemeClr val="tx1">
                    <a:lumMod val="50000"/>
                  </a:schemeClr>
                </a:solidFill>
              </a:defRPr>
            </a:lvl1pPr>
          </a:lstStyle>
          <a:p>
            <a:fld id="{E79A539E-70A0-4E94-B700-EEEDE5A6EDA1}" type="datetimeFigureOut">
              <a:rPr lang="en-US" smtClean="0"/>
              <a:t>12/15/2025</a:t>
            </a:fld>
            <a:endParaRPr lang="en-US"/>
          </a:p>
        </p:txBody>
      </p:sp>
      <p:sp>
        <p:nvSpPr>
          <p:cNvPr id="5" name="Footer Placeholder 4"/>
          <p:cNvSpPr>
            <a:spLocks noGrp="1"/>
          </p:cNvSpPr>
          <p:nvPr>
            <p:ph type="ftr" sz="quarter" idx="11"/>
          </p:nvPr>
        </p:nvSpPr>
        <p:spPr/>
        <p:txBody>
          <a:bodyPr/>
          <a:lstStyle>
            <a:lvl1pPr>
              <a:defRPr>
                <a:solidFill>
                  <a:schemeClr val="tx1">
                    <a:lumMod val="65000"/>
                  </a:schemeClr>
                </a:solidFill>
              </a:defRPr>
            </a:lvl1pPr>
          </a:lstStyle>
          <a:p>
            <a:endParaRPr lang="en-US"/>
          </a:p>
        </p:txBody>
      </p:sp>
      <p:sp>
        <p:nvSpPr>
          <p:cNvPr id="6" name="Slide Number Placeholder 5"/>
          <p:cNvSpPr>
            <a:spLocks noGrp="1"/>
          </p:cNvSpPr>
          <p:nvPr>
            <p:ph type="sldNum" sz="quarter" idx="12"/>
          </p:nvPr>
        </p:nvSpPr>
        <p:spPr/>
        <p:txBody>
          <a:bodyPr/>
          <a:lstStyle>
            <a:lvl1pPr>
              <a:defRPr>
                <a:solidFill>
                  <a:schemeClr val="tx1">
                    <a:lumMod val="65000"/>
                  </a:schemeClr>
                </a:solidFill>
              </a:defRPr>
            </a:lvl1pPr>
          </a:lstStyle>
          <a:p>
            <a:fld id="{11580145-CA6B-4D6B-AF72-9DE6E6D0A931}" type="slidenum">
              <a:rPr lang="en-US" smtClean="0"/>
              <a:t>‹#›</a:t>
            </a:fld>
            <a:endParaRPr lang="en-US"/>
          </a:p>
        </p:txBody>
      </p:sp>
      <p:sp>
        <p:nvSpPr>
          <p:cNvPr id="7" name="Rectangle 6"/>
          <p:cNvSpPr/>
          <p:nvPr/>
        </p:nvSpPr>
        <p:spPr>
          <a:xfrm>
            <a:off x="0" y="0"/>
            <a:ext cx="4572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1084378846"/>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79A539E-70A0-4E94-B700-EEEDE5A6EDA1}" type="datetimeFigureOut">
              <a:rPr lang="en-US" smtClean="0"/>
              <a:t>12/15/2025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1580145-CA6B-4D6B-AF72-9DE6E6D0A931}" type="slidenum">
              <a:rPr lang="en-US" smtClean="0"/>
              <a:t>‹#›</a:t>
            </a:fld>
            <a:endParaRPr lang="en-US"/>
          </a:p>
        </p:txBody>
      </p:sp>
    </p:spTree>
    <p:extLst>
      <p:ext uri="{BB962C8B-B14F-4D97-AF65-F5344CB8AC3E}">
        <p14:creationId xmlns:p14="http://schemas.microsoft.com/office/powerpoint/2010/main" val="25343625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61872" y="758952"/>
            <a:ext cx="9418320" cy="4041648"/>
          </a:xfrm>
        </p:spPr>
        <p:txBody>
          <a:bodyPr anchor="b">
            <a:normAutofit/>
          </a:bodyPr>
          <a:lstStyle>
            <a:lvl1pPr>
              <a:lnSpc>
                <a:spcPct val="85000"/>
              </a:lnSpc>
              <a:defRPr sz="7200" b="0"/>
            </a:lvl1pPr>
          </a:lstStyle>
          <a:p>
            <a:r>
              <a:rPr lang="en-US"/>
              <a:t>Click to edit Master title style</a:t>
            </a:r>
            <a:endParaRPr lang="en-US" dirty="0"/>
          </a:p>
        </p:txBody>
      </p:sp>
      <p:sp>
        <p:nvSpPr>
          <p:cNvPr id="3" name="Text Placeholder 2"/>
          <p:cNvSpPr>
            <a:spLocks noGrp="1"/>
          </p:cNvSpPr>
          <p:nvPr>
            <p:ph type="body" idx="1"/>
          </p:nvPr>
        </p:nvSpPr>
        <p:spPr>
          <a:xfrm>
            <a:off x="1261872" y="4800600"/>
            <a:ext cx="9418320" cy="1691640"/>
          </a:xfrm>
        </p:spPr>
        <p:txBody>
          <a:bodyPr anchor="t">
            <a:normAutofit/>
          </a:bodyPr>
          <a:lstStyle>
            <a:lvl1pPr marL="0" indent="0">
              <a:buNone/>
              <a:defRPr sz="22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79A539E-70A0-4E94-B700-EEEDE5A6EDA1}" type="datetimeFigureOut">
              <a:rPr lang="en-US" smtClean="0"/>
              <a:t>12/15/2025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1580145-CA6B-4D6B-AF72-9DE6E6D0A931}" type="slidenum">
              <a:rPr lang="en-US" smtClean="0"/>
              <a:t>‹#›</a:t>
            </a:fld>
            <a:endParaRPr lang="en-US"/>
          </a:p>
        </p:txBody>
      </p:sp>
      <p:sp>
        <p:nvSpPr>
          <p:cNvPr id="7" name="Rectangle 6"/>
          <p:cNvSpPr/>
          <p:nvPr/>
        </p:nvSpPr>
        <p:spPr>
          <a:xfrm>
            <a:off x="0" y="0"/>
            <a:ext cx="4572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12610707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61872" y="1828800"/>
            <a:ext cx="4480560" cy="4351337"/>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26480" y="1828800"/>
            <a:ext cx="4480560" cy="4351337"/>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79A539E-70A0-4E94-B700-EEEDE5A6EDA1}" type="datetimeFigureOut">
              <a:rPr lang="en-US" smtClean="0"/>
              <a:t>12/15/2025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1580145-CA6B-4D6B-AF72-9DE6E6D0A931}" type="slidenum">
              <a:rPr lang="en-US" smtClean="0"/>
              <a:t>‹#›</a:t>
            </a:fld>
            <a:endParaRPr lang="en-US"/>
          </a:p>
        </p:txBody>
      </p:sp>
    </p:spTree>
    <p:extLst>
      <p:ext uri="{BB962C8B-B14F-4D97-AF65-F5344CB8AC3E}">
        <p14:creationId xmlns:p14="http://schemas.microsoft.com/office/powerpoint/2010/main" val="36982408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261872" y="1713655"/>
            <a:ext cx="4480560" cy="731520"/>
          </a:xfrm>
        </p:spPr>
        <p:txBody>
          <a:bodyPr anchor="b">
            <a:normAutofit/>
          </a:bodyPr>
          <a:lstStyle>
            <a:lvl1pPr marL="0" indent="0">
              <a:spcBef>
                <a:spcPts val="0"/>
              </a:spcBef>
              <a:buNone/>
              <a:defRPr sz="20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61872" y="2507550"/>
            <a:ext cx="4480560" cy="366465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26480" y="1713655"/>
            <a:ext cx="4480560" cy="731520"/>
          </a:xfrm>
        </p:spPr>
        <p:txBody>
          <a:bodyPr anchor="b">
            <a:normAutofit/>
          </a:bodyPr>
          <a:lstStyle>
            <a:lvl1pPr marL="0" indent="0">
              <a:lnSpc>
                <a:spcPct val="95000"/>
              </a:lnSpc>
              <a:spcBef>
                <a:spcPts val="0"/>
              </a:spcBef>
              <a:buNone/>
              <a:defRPr lang="en-US" sz="2000" b="0" kern="1200" dirty="0">
                <a:solidFill>
                  <a:schemeClr val="tx2"/>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2000"/>
              </a:spcBef>
              <a:buFontTx/>
              <a:buNone/>
            </a:pPr>
            <a:r>
              <a:rPr lang="en-US"/>
              <a:t>Click to edit Master text styles</a:t>
            </a:r>
          </a:p>
        </p:txBody>
      </p:sp>
      <p:sp>
        <p:nvSpPr>
          <p:cNvPr id="6" name="Content Placeholder 5"/>
          <p:cNvSpPr>
            <a:spLocks noGrp="1"/>
          </p:cNvSpPr>
          <p:nvPr>
            <p:ph sz="quarter" idx="4"/>
          </p:nvPr>
        </p:nvSpPr>
        <p:spPr>
          <a:xfrm>
            <a:off x="6126480" y="2507550"/>
            <a:ext cx="4480560" cy="366465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79A539E-70A0-4E94-B700-EEEDE5A6EDA1}" type="datetimeFigureOut">
              <a:rPr lang="en-US" smtClean="0"/>
              <a:t>12/15/2025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1580145-CA6B-4D6B-AF72-9DE6E6D0A931}" type="slidenum">
              <a:rPr lang="en-US" smtClean="0"/>
              <a:t>‹#›</a:t>
            </a:fld>
            <a:endParaRPr lang="en-US"/>
          </a:p>
        </p:txBody>
      </p:sp>
    </p:spTree>
    <p:extLst>
      <p:ext uri="{BB962C8B-B14F-4D97-AF65-F5344CB8AC3E}">
        <p14:creationId xmlns:p14="http://schemas.microsoft.com/office/powerpoint/2010/main" val="4126866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79A539E-70A0-4E94-B700-EEEDE5A6EDA1}" type="datetimeFigureOut">
              <a:rPr lang="en-US" smtClean="0"/>
              <a:t>12/15/2025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1580145-CA6B-4D6B-AF72-9DE6E6D0A931}" type="slidenum">
              <a:rPr lang="en-US" smtClean="0"/>
              <a:t>‹#›</a:t>
            </a:fld>
            <a:endParaRPr lang="en-US"/>
          </a:p>
        </p:txBody>
      </p:sp>
    </p:spTree>
    <p:extLst>
      <p:ext uri="{BB962C8B-B14F-4D97-AF65-F5344CB8AC3E}">
        <p14:creationId xmlns:p14="http://schemas.microsoft.com/office/powerpoint/2010/main" val="1619199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79A539E-70A0-4E94-B700-EEEDE5A6EDA1}" type="datetimeFigureOut">
              <a:rPr lang="en-US" smtClean="0"/>
              <a:t>12/15/2025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1580145-CA6B-4D6B-AF72-9DE6E6D0A931}" type="slidenum">
              <a:rPr lang="en-US" smtClean="0"/>
              <a:t>‹#›</a:t>
            </a:fld>
            <a:endParaRPr lang="en-US"/>
          </a:p>
        </p:txBody>
      </p:sp>
    </p:spTree>
    <p:extLst>
      <p:ext uri="{BB962C8B-B14F-4D97-AF65-F5344CB8AC3E}">
        <p14:creationId xmlns:p14="http://schemas.microsoft.com/office/powerpoint/2010/main" val="16347960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1248" y="457200"/>
            <a:ext cx="3200400" cy="1600197"/>
          </a:xfrm>
        </p:spPr>
        <p:txBody>
          <a:bodyPr anchor="b">
            <a:normAutofit/>
          </a:bodyPr>
          <a:lstStyle>
            <a:lvl1pPr>
              <a:defRPr sz="3200" b="0" baseline="0"/>
            </a:lvl1pPr>
          </a:lstStyle>
          <a:p>
            <a:r>
              <a:rPr lang="en-US"/>
              <a:t>Click to edit Master title style</a:t>
            </a:r>
            <a:endParaRPr lang="en-US" dirty="0"/>
          </a:p>
        </p:txBody>
      </p:sp>
      <p:sp>
        <p:nvSpPr>
          <p:cNvPr id="3" name="Content Placeholder 2"/>
          <p:cNvSpPr>
            <a:spLocks noGrp="1"/>
          </p:cNvSpPr>
          <p:nvPr>
            <p:ph idx="1"/>
          </p:nvPr>
        </p:nvSpPr>
        <p:spPr>
          <a:xfrm>
            <a:off x="4504267" y="685800"/>
            <a:ext cx="6079066" cy="548640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41248" y="2099734"/>
            <a:ext cx="3200400" cy="3810001"/>
          </a:xfrm>
        </p:spPr>
        <p:txBody>
          <a:bodyPr>
            <a:normAutofit/>
          </a:bodyPr>
          <a:lstStyle>
            <a:lvl1pPr marL="0" indent="0">
              <a:lnSpc>
                <a:spcPct val="114000"/>
              </a:lnSpc>
              <a:spcBef>
                <a:spcPts val="800"/>
              </a:spcBef>
              <a:buNone/>
              <a:defRPr sz="13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79A539E-70A0-4E94-B700-EEEDE5A6EDA1}" type="datetimeFigureOut">
              <a:rPr lang="en-US" smtClean="0"/>
              <a:t>12/15/2025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1580145-CA6B-4D6B-AF72-9DE6E6D0A931}" type="slidenum">
              <a:rPr lang="en-US" smtClean="0"/>
              <a:t>‹#›</a:t>
            </a:fld>
            <a:endParaRPr lang="en-US"/>
          </a:p>
        </p:txBody>
      </p:sp>
    </p:spTree>
    <p:extLst>
      <p:ext uri="{BB962C8B-B14F-4D97-AF65-F5344CB8AC3E}">
        <p14:creationId xmlns:p14="http://schemas.microsoft.com/office/powerpoint/2010/main" val="29411040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5105400"/>
            <a:ext cx="11292840" cy="17526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title"/>
          </p:nvPr>
        </p:nvSpPr>
        <p:spPr>
          <a:xfrm>
            <a:off x="914400" y="5257800"/>
            <a:ext cx="9982200" cy="914400"/>
          </a:xfrm>
        </p:spPr>
        <p:txBody>
          <a:bodyPr anchor="b">
            <a:normAutofit/>
          </a:bodyPr>
          <a:lstStyle>
            <a:lvl1pPr>
              <a:defRPr sz="2800" b="0">
                <a:solidFill>
                  <a:schemeClr val="bg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0"/>
            <a:ext cx="11292840" cy="5128923"/>
          </a:xfrm>
          <a:solidFill>
            <a:schemeClr val="accent1"/>
          </a:solidFill>
        </p:spPr>
        <p:txBody>
          <a:bodyPr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4400" y="6108589"/>
            <a:ext cx="9982200" cy="597011"/>
          </a:xfrm>
        </p:spPr>
        <p:txBody>
          <a:bodyPr>
            <a:normAutofit/>
          </a:bodyPr>
          <a:lstStyle>
            <a:lvl1pPr marL="0" indent="0">
              <a:lnSpc>
                <a:spcPct val="100000"/>
              </a:lnSpc>
              <a:spcBef>
                <a:spcPts val="800"/>
              </a:spcBef>
              <a:buNone/>
              <a:defRPr sz="1300">
                <a:solidFill>
                  <a:schemeClr val="bg1">
                    <a:lumMod val="8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79A539E-70A0-4E94-B700-EEEDE5A6EDA1}" type="datetimeFigureOut">
              <a:rPr lang="en-US" smtClean="0"/>
              <a:t>12/15/2025</a:t>
            </a:fld>
            <a:endParaRPr lang="en-US"/>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11580145-CA6B-4D6B-AF72-9DE6E6D0A931}" type="slidenum">
              <a:rPr lang="en-US" smtClean="0"/>
              <a:t>‹#›</a:t>
            </a:fld>
            <a:endParaRPr lang="en-US"/>
          </a:p>
        </p:txBody>
      </p:sp>
    </p:spTree>
    <p:extLst>
      <p:ext uri="{BB962C8B-B14F-4D97-AF65-F5344CB8AC3E}">
        <p14:creationId xmlns:p14="http://schemas.microsoft.com/office/powerpoint/2010/main" val="15034906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79A539E-70A0-4E94-B700-EEEDE5A6EDA1}" type="datetimeFigureOut">
              <a:rPr lang="en-US" smtClean="0"/>
              <a:t>12/15/2025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1580145-CA6B-4D6B-AF72-9DE6E6D0A931}" type="slidenum">
              <a:rPr lang="en-US" smtClean="0"/>
              <a:t>‹#›</a:t>
            </a:fld>
            <a:endParaRPr lang="en-US"/>
          </a:p>
        </p:txBody>
      </p:sp>
    </p:spTree>
    <p:extLst>
      <p:ext uri="{BB962C8B-B14F-4D97-AF65-F5344CB8AC3E}">
        <p14:creationId xmlns:p14="http://schemas.microsoft.com/office/powerpoint/2010/main" val="38919757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48700" y="381000"/>
            <a:ext cx="2476500" cy="5897562"/>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762000" y="381000"/>
            <a:ext cx="7734300" cy="589756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79A539E-70A0-4E94-B700-EEEDE5A6EDA1}" type="datetimeFigureOut">
              <a:rPr lang="en-US" smtClean="0"/>
              <a:t>12/15/2025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1580145-CA6B-4D6B-AF72-9DE6E6D0A931}" type="slidenum">
              <a:rPr lang="en-US" smtClean="0"/>
              <a:t>‹#›</a:t>
            </a:fld>
            <a:endParaRPr lang="en-US"/>
          </a:p>
        </p:txBody>
      </p:sp>
    </p:spTree>
    <p:extLst>
      <p:ext uri="{BB962C8B-B14F-4D97-AF65-F5344CB8AC3E}">
        <p14:creationId xmlns:p14="http://schemas.microsoft.com/office/powerpoint/2010/main" val="35919356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1292840" y="0"/>
            <a:ext cx="914400" cy="6858000"/>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Placeholder 1"/>
          <p:cNvSpPr>
            <a:spLocks noGrp="1"/>
          </p:cNvSpPr>
          <p:nvPr>
            <p:ph type="title"/>
          </p:nvPr>
        </p:nvSpPr>
        <p:spPr>
          <a:xfrm>
            <a:off x="1261872" y="365760"/>
            <a:ext cx="9692640" cy="1325562"/>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261872" y="1828800"/>
            <a:ext cx="8595360" cy="435133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16200000">
            <a:off x="10797542" y="998537"/>
            <a:ext cx="1904999" cy="365125"/>
          </a:xfrm>
          <a:prstGeom prst="rect">
            <a:avLst/>
          </a:prstGeom>
        </p:spPr>
        <p:txBody>
          <a:bodyPr vert="horz" lIns="91440" tIns="45720" rIns="91440" bIns="45720" rtlCol="0" anchor="ctr"/>
          <a:lstStyle>
            <a:lvl1pPr algn="r">
              <a:defRPr sz="1050" b="0">
                <a:solidFill>
                  <a:schemeClr val="tx2">
                    <a:lumMod val="20000"/>
                    <a:lumOff val="80000"/>
                  </a:schemeClr>
                </a:solidFill>
              </a:defRPr>
            </a:lvl1pPr>
          </a:lstStyle>
          <a:p>
            <a:fld id="{E79A539E-70A0-4E94-B700-EEEDE5A6EDA1}" type="datetimeFigureOut">
              <a:rPr lang="en-US" smtClean="0"/>
              <a:t>12/15/2025</a:t>
            </a:fld>
            <a:endParaRPr lang="en-US"/>
          </a:p>
        </p:txBody>
      </p:sp>
      <p:sp>
        <p:nvSpPr>
          <p:cNvPr id="5" name="Footer Placeholder 4"/>
          <p:cNvSpPr>
            <a:spLocks noGrp="1"/>
          </p:cNvSpPr>
          <p:nvPr>
            <p:ph type="ftr" sz="quarter" idx="3"/>
          </p:nvPr>
        </p:nvSpPr>
        <p:spPr>
          <a:xfrm rot="16200000">
            <a:off x="9959341" y="4046537"/>
            <a:ext cx="3581400" cy="365125"/>
          </a:xfrm>
          <a:prstGeom prst="rect">
            <a:avLst/>
          </a:prstGeom>
        </p:spPr>
        <p:txBody>
          <a:bodyPr vert="horz" lIns="91440" tIns="45720" rIns="91440" bIns="45720" rtlCol="0" anchor="ctr"/>
          <a:lstStyle>
            <a:lvl1pPr algn="l">
              <a:defRPr sz="1050">
                <a:solidFill>
                  <a:schemeClr val="tx2">
                    <a:lumMod val="20000"/>
                    <a:lumOff val="80000"/>
                  </a:schemeClr>
                </a:solidFill>
              </a:defRPr>
            </a:lvl1pPr>
          </a:lstStyle>
          <a:p>
            <a:endParaRPr lang="en-US"/>
          </a:p>
        </p:txBody>
      </p:sp>
      <p:sp>
        <p:nvSpPr>
          <p:cNvPr id="6" name="Slide Number Placeholder 5"/>
          <p:cNvSpPr>
            <a:spLocks noGrp="1"/>
          </p:cNvSpPr>
          <p:nvPr>
            <p:ph type="sldNum" sz="quarter" idx="4"/>
          </p:nvPr>
        </p:nvSpPr>
        <p:spPr>
          <a:xfrm>
            <a:off x="11292840" y="6172200"/>
            <a:ext cx="914400" cy="593725"/>
          </a:xfrm>
          <a:prstGeom prst="rect">
            <a:avLst/>
          </a:prstGeom>
        </p:spPr>
        <p:txBody>
          <a:bodyPr vert="horz" lIns="45720" tIns="45720" rIns="45720" bIns="45720" rtlCol="0" anchor="ctr">
            <a:normAutofit/>
          </a:bodyPr>
          <a:lstStyle>
            <a:lvl1pPr algn="ctr">
              <a:defRPr sz="3600">
                <a:solidFill>
                  <a:schemeClr val="tx2">
                    <a:lumMod val="60000"/>
                    <a:lumOff val="40000"/>
                  </a:schemeClr>
                </a:solidFill>
              </a:defRPr>
            </a:lvl1pPr>
          </a:lstStyle>
          <a:p>
            <a:fld id="{11580145-CA6B-4D6B-AF72-9DE6E6D0A931}" type="slidenum">
              <a:rPr lang="en-US" smtClean="0"/>
              <a:t>‹#›</a:t>
            </a:fld>
            <a:endParaRPr lang="en-US"/>
          </a:p>
        </p:txBody>
      </p:sp>
    </p:spTree>
    <p:extLst>
      <p:ext uri="{BB962C8B-B14F-4D97-AF65-F5344CB8AC3E}">
        <p14:creationId xmlns:p14="http://schemas.microsoft.com/office/powerpoint/2010/main" val="2167903514"/>
      </p:ext>
    </p:extLst>
  </p:cSld>
  <p:clrMap bg1="lt1" tx1="dk1" bg2="lt2" tx2="dk2" accent1="accent1" accent2="accent2" accent3="accent3" accent4="accent4" accent5="accent5" accent6="accent6" hlink="hlink" folHlink="folHlink"/>
  <p:sldLayoutIdLst>
    <p:sldLayoutId id="2147483796" r:id="rId1"/>
    <p:sldLayoutId id="2147483797" r:id="rId2"/>
    <p:sldLayoutId id="2147483798" r:id="rId3"/>
    <p:sldLayoutId id="2147483799" r:id="rId4"/>
    <p:sldLayoutId id="2147483800" r:id="rId5"/>
    <p:sldLayoutId id="2147483801" r:id="rId6"/>
    <p:sldLayoutId id="2147483802" r:id="rId7"/>
    <p:sldLayoutId id="2147483803" r:id="rId8"/>
    <p:sldLayoutId id="2147483804" r:id="rId9"/>
    <p:sldLayoutId id="2147483805" r:id="rId10"/>
    <p:sldLayoutId id="2147483806" r:id="rId11"/>
  </p:sldLayoutIdLst>
  <p:txStyles>
    <p:titleStyle>
      <a:lvl1pPr algn="l" defTabSz="914400" rtl="0" eaLnBrk="1" latinLnBrk="0" hangingPunct="1">
        <a:lnSpc>
          <a:spcPct val="90000"/>
        </a:lnSpc>
        <a:spcBef>
          <a:spcPct val="0"/>
        </a:spcBef>
        <a:buNone/>
        <a:defRPr sz="4400" kern="1200" spc="-50" baseline="0">
          <a:solidFill>
            <a:schemeClr val="tx1"/>
          </a:solidFill>
          <a:latin typeface="+mj-lt"/>
          <a:ea typeface="+mj-ea"/>
          <a:cs typeface="+mj-cs"/>
        </a:defRPr>
      </a:lvl1pPr>
    </p:titleStyle>
    <p:body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32D69D-AD4C-2A78-3EBF-87ED9C2A07A0}"/>
              </a:ext>
            </a:extLst>
          </p:cNvPr>
          <p:cNvSpPr>
            <a:spLocks noGrp="1"/>
          </p:cNvSpPr>
          <p:nvPr>
            <p:ph type="ctrTitle"/>
          </p:nvPr>
        </p:nvSpPr>
        <p:spPr>
          <a:xfrm>
            <a:off x="601133" y="2664756"/>
            <a:ext cx="10903479" cy="2339044"/>
          </a:xfrm>
        </p:spPr>
        <p:txBody>
          <a:bodyPr>
            <a:normAutofit/>
          </a:bodyPr>
          <a:lstStyle/>
          <a:p>
            <a:r>
              <a:rPr lang="en-US" sz="2800" dirty="0"/>
              <a:t>A Comparative Analysis of  Machine Learning Models to Predict the Difficulty of Codeforces Problems</a:t>
            </a:r>
            <a:br>
              <a:rPr lang="en-US" sz="2800" dirty="0"/>
            </a:br>
            <a:r>
              <a:rPr lang="en-US" sz="2800" dirty="0"/>
              <a:t>Team 12</a:t>
            </a:r>
            <a:br>
              <a:rPr lang="en-US" sz="2800" dirty="0"/>
            </a:br>
            <a:br>
              <a:rPr lang="en-US" sz="2800" dirty="0"/>
            </a:br>
            <a:endParaRPr lang="en-US" sz="2800" dirty="0"/>
          </a:p>
        </p:txBody>
      </p:sp>
      <p:sp>
        <p:nvSpPr>
          <p:cNvPr id="3" name="Subtitle 2">
            <a:extLst>
              <a:ext uri="{FF2B5EF4-FFF2-40B4-BE49-F238E27FC236}">
                <a16:creationId xmlns:a16="http://schemas.microsoft.com/office/drawing/2014/main" id="{68198265-647D-62CF-DE1E-2D2C25D230BA}"/>
              </a:ext>
            </a:extLst>
          </p:cNvPr>
          <p:cNvSpPr>
            <a:spLocks noGrp="1"/>
          </p:cNvSpPr>
          <p:nvPr>
            <p:ph type="subTitle" idx="1"/>
          </p:nvPr>
        </p:nvSpPr>
        <p:spPr>
          <a:xfrm>
            <a:off x="431800" y="4802779"/>
            <a:ext cx="11072812" cy="1126283"/>
          </a:xfrm>
        </p:spPr>
        <p:txBody>
          <a:bodyPr>
            <a:noAutofit/>
          </a:bodyPr>
          <a:lstStyle/>
          <a:p>
            <a:pPr marL="342900" indent="-342900">
              <a:buFont typeface="Wingdings" panose="05000000000000000000" pitchFamily="2" charset="2"/>
              <a:buChar char="ü"/>
            </a:pPr>
            <a:r>
              <a:rPr lang="en-US" sz="2000" dirty="0"/>
              <a:t>Nargiz Aghayeva BSM   </a:t>
            </a:r>
          </a:p>
          <a:p>
            <a:pPr marL="342900" indent="-342900">
              <a:buFont typeface="Wingdings" panose="05000000000000000000" pitchFamily="2" charset="2"/>
              <a:buChar char="ü"/>
            </a:pPr>
            <a:r>
              <a:rPr lang="en-US" sz="2000" dirty="0"/>
              <a:t>Raul Aghayev BSCS  </a:t>
            </a:r>
          </a:p>
          <a:p>
            <a:pPr marL="342900" indent="-342900">
              <a:buFont typeface="Wingdings" panose="05000000000000000000" pitchFamily="2" charset="2"/>
              <a:buChar char="ü"/>
            </a:pPr>
            <a:r>
              <a:rPr lang="en-US" sz="2000" dirty="0"/>
              <a:t> Arzu Mammadova BSCS</a:t>
            </a:r>
          </a:p>
        </p:txBody>
      </p:sp>
      <p:pic>
        <p:nvPicPr>
          <p:cNvPr id="5" name="Graphic 4">
            <a:extLst>
              <a:ext uri="{FF2B5EF4-FFF2-40B4-BE49-F238E27FC236}">
                <a16:creationId xmlns:a16="http://schemas.microsoft.com/office/drawing/2014/main" id="{56E4D237-77DB-9D60-A65D-C09E97E0B1EB}"/>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84305" y="609341"/>
            <a:ext cx="2850989" cy="2082951"/>
          </a:xfrm>
          <a:prstGeom prst="rect">
            <a:avLst/>
          </a:prstGeom>
        </p:spPr>
      </p:pic>
      <p:sp>
        <p:nvSpPr>
          <p:cNvPr id="6" name="Subtitle 2">
            <a:extLst>
              <a:ext uri="{FF2B5EF4-FFF2-40B4-BE49-F238E27FC236}">
                <a16:creationId xmlns:a16="http://schemas.microsoft.com/office/drawing/2014/main" id="{ED831ADC-6CF3-EA9B-6487-80B73893ECEE}"/>
              </a:ext>
            </a:extLst>
          </p:cNvPr>
          <p:cNvSpPr txBox="1">
            <a:spLocks/>
          </p:cNvSpPr>
          <p:nvPr/>
        </p:nvSpPr>
        <p:spPr>
          <a:xfrm>
            <a:off x="3818466" y="1154242"/>
            <a:ext cx="6841067" cy="1648225"/>
          </a:xfrm>
          <a:prstGeom prst="rect">
            <a:avLst/>
          </a:prstGeom>
        </p:spPr>
        <p:txBody>
          <a:bodyPr vert="horz" lIns="91440" tIns="45720" rIns="91440" bIns="45720" rtlCol="0" anchor="t">
            <a:normAutofit/>
          </a:bodyPr>
          <a:lstStyle>
            <a:lvl1pPr marL="0" indent="0" algn="l" defTabSz="457200" rtl="0" eaLnBrk="1" latinLnBrk="0" hangingPunct="1">
              <a:spcBef>
                <a:spcPts val="1000"/>
              </a:spcBef>
              <a:spcAft>
                <a:spcPts val="0"/>
              </a:spcAft>
              <a:buClr>
                <a:schemeClr val="accent1"/>
              </a:buClr>
              <a:buFont typeface="Wingdings 3" charset="2"/>
              <a:buNone/>
              <a:defRPr sz="1800" kern="1200">
                <a:solidFill>
                  <a:schemeClr val="tx1">
                    <a:lumMod val="65000"/>
                    <a:lumOff val="35000"/>
                  </a:schemeClr>
                </a:solidFill>
                <a:latin typeface="+mn-lt"/>
                <a:ea typeface="+mn-ea"/>
                <a:cs typeface="+mn-cs"/>
              </a:defRPr>
            </a:lvl1pPr>
            <a:lvl2pPr marL="457200" indent="0" algn="ctr" defTabSz="457200" rtl="0" eaLnBrk="1" latinLnBrk="0" hangingPunct="1">
              <a:spcBef>
                <a:spcPts val="1000"/>
              </a:spcBef>
              <a:spcAft>
                <a:spcPts val="0"/>
              </a:spcAft>
              <a:buClr>
                <a:schemeClr val="accent1"/>
              </a:buClr>
              <a:buFont typeface="Wingdings 3" charset="2"/>
              <a:buNone/>
              <a:defRPr sz="1600" kern="1200">
                <a:solidFill>
                  <a:schemeClr val="tx1">
                    <a:tint val="75000"/>
                  </a:schemeClr>
                </a:solidFill>
                <a:latin typeface="+mn-lt"/>
                <a:ea typeface="+mn-ea"/>
                <a:cs typeface="+mn-cs"/>
              </a:defRPr>
            </a:lvl2pPr>
            <a:lvl3pPr marL="914400" indent="0" algn="ctr" defTabSz="457200" rtl="0" eaLnBrk="1" latinLnBrk="0" hangingPunct="1">
              <a:spcBef>
                <a:spcPts val="1000"/>
              </a:spcBef>
              <a:spcAft>
                <a:spcPts val="0"/>
              </a:spcAft>
              <a:buClr>
                <a:schemeClr val="accent1"/>
              </a:buClr>
              <a:buFont typeface="Wingdings 3" charset="2"/>
              <a:buNone/>
              <a:defRPr sz="1400" kern="1200">
                <a:solidFill>
                  <a:schemeClr val="tx1">
                    <a:tint val="75000"/>
                  </a:schemeClr>
                </a:solidFill>
                <a:latin typeface="+mn-lt"/>
                <a:ea typeface="+mn-ea"/>
                <a:cs typeface="+mn-cs"/>
              </a:defRPr>
            </a:lvl3pPr>
            <a:lvl4pPr marL="1371600" indent="0" algn="ctr" defTabSz="457200" rtl="0" eaLnBrk="1" latinLnBrk="0" hangingPunct="1">
              <a:spcBef>
                <a:spcPts val="1000"/>
              </a:spcBef>
              <a:spcAft>
                <a:spcPts val="0"/>
              </a:spcAft>
              <a:buClr>
                <a:schemeClr val="accent1"/>
              </a:buClr>
              <a:buFont typeface="Wingdings 3" charset="2"/>
              <a:buNone/>
              <a:defRPr sz="1200" kern="1200">
                <a:solidFill>
                  <a:schemeClr val="tx1">
                    <a:tint val="75000"/>
                  </a:schemeClr>
                </a:solidFill>
                <a:latin typeface="+mn-lt"/>
                <a:ea typeface="+mn-ea"/>
                <a:cs typeface="+mn-cs"/>
              </a:defRPr>
            </a:lvl4pPr>
            <a:lvl5pPr marL="1828800" indent="0" algn="ctr" defTabSz="457200" rtl="0" eaLnBrk="1" latinLnBrk="0" hangingPunct="1">
              <a:spcBef>
                <a:spcPts val="1000"/>
              </a:spcBef>
              <a:spcAft>
                <a:spcPts val="0"/>
              </a:spcAft>
              <a:buClr>
                <a:schemeClr val="accent1"/>
              </a:buClr>
              <a:buFont typeface="Wingdings 3" charset="2"/>
              <a:buNone/>
              <a:defRPr sz="1200" kern="1200">
                <a:solidFill>
                  <a:schemeClr val="tx1">
                    <a:tint val="75000"/>
                  </a:schemeClr>
                </a:solidFill>
                <a:latin typeface="+mn-lt"/>
                <a:ea typeface="+mn-ea"/>
                <a:cs typeface="+mn-cs"/>
              </a:defRPr>
            </a:lvl5pPr>
            <a:lvl6pPr marL="2286000" indent="0" algn="ctr" defTabSz="457200" rtl="0" eaLnBrk="1" latinLnBrk="0" hangingPunct="1">
              <a:spcBef>
                <a:spcPts val="1000"/>
              </a:spcBef>
              <a:spcAft>
                <a:spcPts val="0"/>
              </a:spcAft>
              <a:buClr>
                <a:schemeClr val="accent1"/>
              </a:buClr>
              <a:buFont typeface="Wingdings 3" charset="2"/>
              <a:buNone/>
              <a:defRPr sz="1200" kern="1200">
                <a:solidFill>
                  <a:schemeClr val="tx1">
                    <a:tint val="75000"/>
                  </a:schemeClr>
                </a:solidFill>
                <a:latin typeface="+mn-lt"/>
                <a:ea typeface="+mn-ea"/>
                <a:cs typeface="+mn-cs"/>
              </a:defRPr>
            </a:lvl6pPr>
            <a:lvl7pPr marL="2743200" indent="0" algn="ctr" defTabSz="457200" rtl="0" eaLnBrk="1" latinLnBrk="0" hangingPunct="1">
              <a:spcBef>
                <a:spcPts val="1000"/>
              </a:spcBef>
              <a:spcAft>
                <a:spcPts val="0"/>
              </a:spcAft>
              <a:buClr>
                <a:schemeClr val="accent1"/>
              </a:buClr>
              <a:buFont typeface="Wingdings 3" charset="2"/>
              <a:buNone/>
              <a:defRPr sz="1200" kern="1200">
                <a:solidFill>
                  <a:schemeClr val="tx1">
                    <a:tint val="75000"/>
                  </a:schemeClr>
                </a:solidFill>
                <a:latin typeface="+mn-lt"/>
                <a:ea typeface="+mn-ea"/>
                <a:cs typeface="+mn-cs"/>
              </a:defRPr>
            </a:lvl7pPr>
            <a:lvl8pPr marL="3200400" indent="0" algn="ctr" defTabSz="457200" rtl="0" eaLnBrk="1" latinLnBrk="0" hangingPunct="1">
              <a:spcBef>
                <a:spcPts val="1000"/>
              </a:spcBef>
              <a:spcAft>
                <a:spcPts val="0"/>
              </a:spcAft>
              <a:buClr>
                <a:schemeClr val="accent1"/>
              </a:buClr>
              <a:buFont typeface="Wingdings 3" charset="2"/>
              <a:buNone/>
              <a:defRPr sz="1200" kern="1200">
                <a:solidFill>
                  <a:schemeClr val="tx1">
                    <a:tint val="75000"/>
                  </a:schemeClr>
                </a:solidFill>
                <a:latin typeface="+mn-lt"/>
                <a:ea typeface="+mn-ea"/>
                <a:cs typeface="+mn-cs"/>
              </a:defRPr>
            </a:lvl8pPr>
            <a:lvl9pPr marL="3657600" indent="0" algn="ctr" defTabSz="457200" rtl="0" eaLnBrk="1" latinLnBrk="0" hangingPunct="1">
              <a:spcBef>
                <a:spcPts val="1000"/>
              </a:spcBef>
              <a:spcAft>
                <a:spcPts val="0"/>
              </a:spcAft>
              <a:buClr>
                <a:schemeClr val="accent1"/>
              </a:buClr>
              <a:buFont typeface="Wingdings 3" charset="2"/>
              <a:buNone/>
              <a:defRPr sz="1200" kern="1200">
                <a:solidFill>
                  <a:schemeClr val="tx1">
                    <a:tint val="75000"/>
                  </a:schemeClr>
                </a:solidFill>
                <a:latin typeface="+mn-lt"/>
                <a:ea typeface="+mn-ea"/>
                <a:cs typeface="+mn-cs"/>
              </a:defRPr>
            </a:lvl9pPr>
          </a:lstStyle>
          <a:p>
            <a:r>
              <a:rPr lang="en-US" dirty="0"/>
              <a:t>School of IT and Engineering</a:t>
            </a:r>
          </a:p>
          <a:p>
            <a:r>
              <a:rPr lang="en-US" dirty="0"/>
              <a:t>CSCI4734 Machine Learning</a:t>
            </a:r>
          </a:p>
          <a:p>
            <a:r>
              <a:rPr lang="en-US" dirty="0"/>
              <a:t>Fall 2025</a:t>
            </a:r>
          </a:p>
        </p:txBody>
      </p:sp>
    </p:spTree>
    <p:extLst>
      <p:ext uri="{BB962C8B-B14F-4D97-AF65-F5344CB8AC3E}">
        <p14:creationId xmlns:p14="http://schemas.microsoft.com/office/powerpoint/2010/main" val="668779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30B3D270-B19D-4DB8-BD3C-3E707485B5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055416" cy="6858000"/>
          </a:xfrm>
          <a:prstGeom prst="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0CA2930-ACE0-5803-865A-06AEA96DBF28}"/>
              </a:ext>
            </a:extLst>
          </p:cNvPr>
          <p:cNvSpPr>
            <a:spLocks noGrp="1"/>
          </p:cNvSpPr>
          <p:nvPr>
            <p:ph type="title"/>
          </p:nvPr>
        </p:nvSpPr>
        <p:spPr>
          <a:xfrm>
            <a:off x="566058" y="836023"/>
            <a:ext cx="2718788" cy="5183777"/>
          </a:xfrm>
        </p:spPr>
        <p:txBody>
          <a:bodyPr anchor="ctr">
            <a:normAutofit/>
          </a:bodyPr>
          <a:lstStyle/>
          <a:p>
            <a:r>
              <a:rPr lang="en-US" sz="3600">
                <a:solidFill>
                  <a:srgbClr val="FFFFFF"/>
                </a:solidFill>
              </a:rPr>
              <a:t>Agenda</a:t>
            </a:r>
          </a:p>
        </p:txBody>
      </p:sp>
      <p:sp>
        <p:nvSpPr>
          <p:cNvPr id="11" name="Rectangle 10">
            <a:extLst>
              <a:ext uri="{FF2B5EF4-FFF2-40B4-BE49-F238E27FC236}">
                <a16:creationId xmlns:a16="http://schemas.microsoft.com/office/drawing/2014/main" id="{49BDAF94-B52E-4307-B54C-EF413086FC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92840" y="0"/>
            <a:ext cx="914400" cy="6858000"/>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graphicFrame>
        <p:nvGraphicFramePr>
          <p:cNvPr id="5" name="Content Placeholder 2">
            <a:extLst>
              <a:ext uri="{FF2B5EF4-FFF2-40B4-BE49-F238E27FC236}">
                <a16:creationId xmlns:a16="http://schemas.microsoft.com/office/drawing/2014/main" id="{758CA063-46A2-BB8A-74A6-9ECE6FF34A6D}"/>
              </a:ext>
            </a:extLst>
          </p:cNvPr>
          <p:cNvGraphicFramePr>
            <a:graphicFrameLocks noGrp="1"/>
          </p:cNvGraphicFramePr>
          <p:nvPr>
            <p:ph idx="1"/>
            <p:extLst>
              <p:ext uri="{D42A27DB-BD31-4B8C-83A1-F6EECF244321}">
                <p14:modId xmlns:p14="http://schemas.microsoft.com/office/powerpoint/2010/main" val="788810005"/>
              </p:ext>
            </p:extLst>
          </p:nvPr>
        </p:nvGraphicFramePr>
        <p:xfrm>
          <a:off x="4658815" y="804672"/>
          <a:ext cx="5990136" cy="526205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8762377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014519-76E4-751C-DA06-69679F460D90}"/>
              </a:ext>
            </a:extLst>
          </p:cNvPr>
          <p:cNvSpPr>
            <a:spLocks noGrp="1"/>
          </p:cNvSpPr>
          <p:nvPr>
            <p:ph type="title"/>
          </p:nvPr>
        </p:nvSpPr>
        <p:spPr>
          <a:xfrm>
            <a:off x="231494" y="-305572"/>
            <a:ext cx="9692640" cy="1325562"/>
          </a:xfrm>
        </p:spPr>
        <p:txBody>
          <a:bodyPr vert="horz" lIns="91440" tIns="45720" rIns="91440" bIns="45720" rtlCol="0">
            <a:normAutofit/>
          </a:bodyPr>
          <a:lstStyle/>
          <a:p>
            <a:r>
              <a:rPr lang="en-US" dirty="0"/>
              <a:t>Project in a Slide</a:t>
            </a:r>
          </a:p>
        </p:txBody>
      </p:sp>
      <p:graphicFrame>
        <p:nvGraphicFramePr>
          <p:cNvPr id="4" name="Content Placeholder 3">
            <a:extLst>
              <a:ext uri="{FF2B5EF4-FFF2-40B4-BE49-F238E27FC236}">
                <a16:creationId xmlns:a16="http://schemas.microsoft.com/office/drawing/2014/main" id="{3562C1B6-805C-1D03-4AE5-159C4E9B9DF2}"/>
              </a:ext>
            </a:extLst>
          </p:cNvPr>
          <p:cNvGraphicFramePr>
            <a:graphicFrameLocks noGrp="1"/>
          </p:cNvGraphicFramePr>
          <p:nvPr>
            <p:ph idx="1"/>
            <p:extLst>
              <p:ext uri="{D42A27DB-BD31-4B8C-83A1-F6EECF244321}">
                <p14:modId xmlns:p14="http://schemas.microsoft.com/office/powerpoint/2010/main" val="3435692042"/>
              </p:ext>
            </p:extLst>
          </p:nvPr>
        </p:nvGraphicFramePr>
        <p:xfrm>
          <a:off x="196770" y="1169042"/>
          <a:ext cx="11042248" cy="5688957"/>
        </p:xfrm>
        <a:graphic>
          <a:graphicData uri="http://schemas.openxmlformats.org/drawingml/2006/table">
            <a:tbl>
              <a:tblPr firstRow="1" bandRow="1">
                <a:noFill/>
                <a:tableStyleId>{D7AC3CCA-C797-4891-BE02-D94E43425B78}</a:tableStyleId>
              </a:tblPr>
              <a:tblGrid>
                <a:gridCol w="2229743">
                  <a:extLst>
                    <a:ext uri="{9D8B030D-6E8A-4147-A177-3AD203B41FA5}">
                      <a16:colId xmlns:a16="http://schemas.microsoft.com/office/drawing/2014/main" val="2124129633"/>
                    </a:ext>
                  </a:extLst>
                </a:gridCol>
                <a:gridCol w="8812505">
                  <a:extLst>
                    <a:ext uri="{9D8B030D-6E8A-4147-A177-3AD203B41FA5}">
                      <a16:colId xmlns:a16="http://schemas.microsoft.com/office/drawing/2014/main" val="450152744"/>
                    </a:ext>
                  </a:extLst>
                </a:gridCol>
              </a:tblGrid>
              <a:tr h="674733">
                <a:tc>
                  <a:txBody>
                    <a:bodyPr/>
                    <a:lstStyle/>
                    <a:p>
                      <a:r>
                        <a:rPr lang="en-US" sz="1200" b="0" cap="none" spc="0" dirty="0">
                          <a:solidFill>
                            <a:schemeClr val="tx1"/>
                          </a:solidFill>
                        </a:rPr>
                        <a:t>Project Title</a:t>
                      </a:r>
                    </a:p>
                  </a:txBody>
                  <a:tcPr marL="32733" marR="32733" marT="32733" marB="65465" anchor="b">
                    <a:lnL w="12700" cmpd="sng">
                      <a:noFill/>
                    </a:lnL>
                    <a:lnR w="12700" cmpd="sng">
                      <a:noFill/>
                    </a:lnR>
                    <a:lnT w="9525" cap="flat" cmpd="sng" algn="ctr">
                      <a:noFill/>
                      <a:prstDash val="solid"/>
                    </a:lnT>
                    <a:lnB w="38100" cmpd="sng">
                      <a:noFill/>
                    </a:lnB>
                    <a:noFill/>
                  </a:tcPr>
                </a:tc>
                <a:tc>
                  <a:txBody>
                    <a:bodyPr/>
                    <a:lstStyle/>
                    <a:p>
                      <a:r>
                        <a:rPr lang="en-US" sz="1200" b="0" cap="none" spc="0">
                          <a:solidFill>
                            <a:schemeClr val="tx1"/>
                          </a:solidFill>
                        </a:rPr>
                        <a:t>A Comparative Analysis of  Machine Learning Models to Predict the Difficulty of Codeforces Problems</a:t>
                      </a:r>
                    </a:p>
                  </a:txBody>
                  <a:tcPr marL="32733" marR="32733" marT="32733" marB="65465" anchor="b">
                    <a:lnL w="12700" cmpd="sng">
                      <a:noFill/>
                    </a:lnL>
                    <a:lnR w="12700" cmpd="sng">
                      <a:noFill/>
                    </a:lnR>
                    <a:lnT w="9525" cap="flat" cmpd="sng" algn="ctr">
                      <a:noFill/>
                      <a:prstDash val="solid"/>
                    </a:lnT>
                    <a:lnB w="38100" cmpd="sng">
                      <a:noFill/>
                    </a:lnB>
                    <a:noFill/>
                  </a:tcPr>
                </a:tc>
                <a:extLst>
                  <a:ext uri="{0D108BD9-81ED-4DB2-BD59-A6C34878D82A}">
                    <a16:rowId xmlns:a16="http://schemas.microsoft.com/office/drawing/2014/main" val="2691018419"/>
                  </a:ext>
                </a:extLst>
              </a:tr>
              <a:tr h="559429">
                <a:tc>
                  <a:txBody>
                    <a:bodyPr/>
                    <a:lstStyle/>
                    <a:p>
                      <a:r>
                        <a:rPr lang="en-US" sz="1000" b="0" cap="none" spc="0">
                          <a:solidFill>
                            <a:schemeClr val="tx1"/>
                          </a:solidFill>
                        </a:rPr>
                        <a:t>Value</a:t>
                      </a:r>
                    </a:p>
                  </a:txBody>
                  <a:tcPr marL="32733" marR="32733" marT="32733" marB="65465">
                    <a:lnL w="12700" cmpd="sng">
                      <a:noFill/>
                      <a:prstDash val="solid"/>
                    </a:lnL>
                    <a:lnR w="12700" cmpd="sng">
                      <a:noFill/>
                      <a:prstDash val="solid"/>
                    </a:lnR>
                    <a:lnT w="38100" cmpd="sng">
                      <a:noFill/>
                    </a:lnT>
                    <a:lnB w="12700" cap="flat" cmpd="sng" algn="ctr">
                      <a:solidFill>
                        <a:schemeClr val="accent1"/>
                      </a:solidFill>
                      <a:prstDash val="solid"/>
                    </a:lnB>
                    <a:noFill/>
                  </a:tcPr>
                </a:tc>
                <a:tc>
                  <a:txBody>
                    <a:bodyPr/>
                    <a:lstStyle/>
                    <a:p>
                      <a:r>
                        <a:rPr lang="en-US" sz="1000" cap="none" spc="0">
                          <a:solidFill>
                            <a:schemeClr val="tx1"/>
                          </a:solidFill>
                        </a:rPr>
                        <a:t>Automatically predicts problem difficulty from statements and metadata, enabling scalable difficulty labeling, improved problem recommendation, and fairer contest design without relying solely on manual expert ratings.</a:t>
                      </a:r>
                    </a:p>
                  </a:txBody>
                  <a:tcPr marL="32733" marR="32733" marT="32733" marB="65465">
                    <a:lnL w="12700" cmpd="sng">
                      <a:noFill/>
                      <a:prstDash val="solid"/>
                    </a:lnL>
                    <a:lnR w="12700" cmpd="sng">
                      <a:noFill/>
                      <a:prstDash val="solid"/>
                    </a:lnR>
                    <a:lnT w="38100" cmpd="sng">
                      <a:noFill/>
                    </a:lnT>
                    <a:lnB w="12700" cap="flat" cmpd="sng" algn="ctr">
                      <a:solidFill>
                        <a:schemeClr val="accent1"/>
                      </a:solidFill>
                      <a:prstDash val="solid"/>
                    </a:lnB>
                    <a:noFill/>
                  </a:tcPr>
                </a:tc>
                <a:extLst>
                  <a:ext uri="{0D108BD9-81ED-4DB2-BD59-A6C34878D82A}">
                    <a16:rowId xmlns:a16="http://schemas.microsoft.com/office/drawing/2014/main" val="2302211333"/>
                  </a:ext>
                </a:extLst>
              </a:tr>
              <a:tr h="559429">
                <a:tc>
                  <a:txBody>
                    <a:bodyPr/>
                    <a:lstStyle/>
                    <a:p>
                      <a:r>
                        <a:rPr lang="en-US" sz="1000" b="0" cap="none" spc="0">
                          <a:solidFill>
                            <a:schemeClr val="tx1"/>
                          </a:solidFill>
                        </a:rPr>
                        <a:t>Problem type</a:t>
                      </a:r>
                    </a:p>
                  </a:txBody>
                  <a:tcPr marL="32733" marR="32733" marT="32733" marB="65465">
                    <a:lnL w="12700" cmpd="sng">
                      <a:noFill/>
                      <a:prstDash val="solid"/>
                    </a:lnL>
                    <a:lnR w="12700" cmpd="sng">
                      <a:noFill/>
                      <a:prstDash val="solid"/>
                    </a:lnR>
                    <a:lnT w="12700" cap="flat" cmpd="sng" algn="ctr">
                      <a:solidFill>
                        <a:schemeClr val="accent1"/>
                      </a:solidFill>
                      <a:prstDash val="solid"/>
                    </a:lnT>
                    <a:lnB w="12700" cmpd="sng">
                      <a:noFill/>
                      <a:prstDash val="solid"/>
                    </a:lnB>
                    <a:solidFill>
                      <a:schemeClr val="bg1">
                        <a:lumMod val="95000"/>
                      </a:schemeClr>
                    </a:solidFill>
                  </a:tcPr>
                </a:tc>
                <a:tc>
                  <a:txBody>
                    <a:bodyPr/>
                    <a:lstStyle/>
                    <a:p>
                      <a:r>
                        <a:rPr lang="en-US" sz="1000" b="1" cap="none" spc="0">
                          <a:solidFill>
                            <a:schemeClr val="tx1"/>
                          </a:solidFill>
                        </a:rPr>
                        <a:t>Supervised regression</a:t>
                      </a:r>
                      <a:r>
                        <a:rPr lang="en-US" sz="1000" cap="none" spc="0">
                          <a:solidFill>
                            <a:schemeClr val="tx1"/>
                          </a:solidFill>
                        </a:rPr>
                        <a:t> with an emphasis on </a:t>
                      </a:r>
                      <a:r>
                        <a:rPr lang="en-US" sz="1000" b="1" cap="none" spc="0">
                          <a:solidFill>
                            <a:schemeClr val="tx1"/>
                          </a:solidFill>
                        </a:rPr>
                        <a:t>ranking quality</a:t>
                      </a:r>
                      <a:r>
                        <a:rPr lang="en-US" sz="1000" cap="none" spc="0">
                          <a:solidFill>
                            <a:schemeClr val="tx1"/>
                          </a:solidFill>
                        </a:rPr>
                        <a:t> (predicting continuous difficulty ratings and preserving their relative order).</a:t>
                      </a:r>
                      <a:endParaRPr lang="en-US" sz="1000" b="0" cap="none" spc="0">
                        <a:solidFill>
                          <a:schemeClr val="tx1"/>
                        </a:solidFill>
                      </a:endParaRPr>
                    </a:p>
                  </a:txBody>
                  <a:tcPr marL="32733" marR="32733" marT="32733" marB="65465">
                    <a:lnL w="12700" cmpd="sng">
                      <a:noFill/>
                      <a:prstDash val="solid"/>
                    </a:lnL>
                    <a:lnR w="12700" cmpd="sng">
                      <a:noFill/>
                      <a:prstDash val="solid"/>
                    </a:lnR>
                    <a:lnT w="12700" cap="flat" cmpd="sng" algn="ctr">
                      <a:solidFill>
                        <a:schemeClr val="accent1"/>
                      </a:solidFill>
                      <a:prstDash val="solid"/>
                    </a:lnT>
                    <a:lnB w="12700" cmpd="sng">
                      <a:noFill/>
                      <a:prstDash val="solid"/>
                    </a:lnB>
                    <a:solidFill>
                      <a:schemeClr val="bg1">
                        <a:lumMod val="95000"/>
                      </a:schemeClr>
                    </a:solidFill>
                  </a:tcPr>
                </a:tc>
                <a:extLst>
                  <a:ext uri="{0D108BD9-81ED-4DB2-BD59-A6C34878D82A}">
                    <a16:rowId xmlns:a16="http://schemas.microsoft.com/office/drawing/2014/main" val="3839400232"/>
                  </a:ext>
                </a:extLst>
              </a:tr>
              <a:tr h="529219">
                <a:tc>
                  <a:txBody>
                    <a:bodyPr/>
                    <a:lstStyle/>
                    <a:p>
                      <a:r>
                        <a:rPr lang="en-US" sz="1000" b="0" cap="none" spc="0" dirty="0">
                          <a:solidFill>
                            <a:schemeClr val="tx1"/>
                          </a:solidFill>
                        </a:rPr>
                        <a:t>Original and final data shape</a:t>
                      </a:r>
                    </a:p>
                  </a:txBody>
                  <a:tcPr marL="32733" marR="32733" marT="32733" marB="65465">
                    <a:lnL w="12700" cmpd="sng">
                      <a:noFill/>
                      <a:prstDash val="solid"/>
                    </a:lnL>
                    <a:lnR w="12700" cmpd="sng">
                      <a:noFill/>
                      <a:prstDash val="solid"/>
                    </a:lnR>
                    <a:lnT w="12700" cmpd="sng">
                      <a:noFill/>
                      <a:prstDash val="solid"/>
                    </a:lnT>
                    <a:lnB w="12700" cap="flat" cmpd="sng" algn="ctr">
                      <a:solidFill>
                        <a:schemeClr val="accent1"/>
                      </a:solidFill>
                      <a:prstDash val="solid"/>
                    </a:lnB>
                    <a:noFill/>
                  </a:tcPr>
                </a:tc>
                <a:tc>
                  <a:txBody>
                    <a:bodyPr/>
                    <a:lstStyle/>
                    <a:p>
                      <a:r>
                        <a:rPr lang="en-US" sz="1000" b="0" cap="none" spc="0">
                          <a:solidFill>
                            <a:schemeClr val="tx1"/>
                          </a:solidFill>
                        </a:rPr>
                        <a:t>Original </a:t>
                      </a:r>
                      <a:r>
                        <a:rPr lang="en-US" sz="1000" b="0" i="0" kern="1200" cap="none" spc="0">
                          <a:solidFill>
                            <a:schemeClr val="tx1"/>
                          </a:solidFill>
                          <a:effectLst/>
                          <a:latin typeface="+mn-lt"/>
                          <a:ea typeface="+mn-ea"/>
                          <a:cs typeface="+mn-cs"/>
                        </a:rPr>
                        <a:t>(9556, 14), After Preprocessing/engineering (9556, 21)</a:t>
                      </a:r>
                      <a:endParaRPr lang="en-US" sz="1000" b="0" cap="none" spc="0">
                        <a:solidFill>
                          <a:schemeClr val="tx1"/>
                        </a:solidFill>
                      </a:endParaRPr>
                    </a:p>
                  </a:txBody>
                  <a:tcPr marL="32733" marR="32733" marT="32733" marB="65465">
                    <a:lnL w="12700" cmpd="sng">
                      <a:noFill/>
                      <a:prstDash val="solid"/>
                    </a:lnL>
                    <a:lnR w="12700" cmpd="sng">
                      <a:noFill/>
                      <a:prstDash val="solid"/>
                    </a:lnR>
                    <a:lnT w="12700" cmpd="sng">
                      <a:noFill/>
                      <a:prstDash val="solid"/>
                    </a:lnT>
                    <a:lnB w="12700" cap="flat" cmpd="sng" algn="ctr">
                      <a:solidFill>
                        <a:schemeClr val="accent1"/>
                      </a:solidFill>
                      <a:prstDash val="solid"/>
                    </a:lnB>
                    <a:noFill/>
                  </a:tcPr>
                </a:tc>
                <a:extLst>
                  <a:ext uri="{0D108BD9-81ED-4DB2-BD59-A6C34878D82A}">
                    <a16:rowId xmlns:a16="http://schemas.microsoft.com/office/drawing/2014/main" val="2598861641"/>
                  </a:ext>
                </a:extLst>
              </a:tr>
              <a:tr h="367253">
                <a:tc>
                  <a:txBody>
                    <a:bodyPr/>
                    <a:lstStyle/>
                    <a:p>
                      <a:r>
                        <a:rPr lang="en-US" sz="1000" b="0" cap="none" spc="0">
                          <a:solidFill>
                            <a:schemeClr val="tx1"/>
                          </a:solidFill>
                        </a:rPr>
                        <a:t>Preprocessing steps</a:t>
                      </a:r>
                    </a:p>
                  </a:txBody>
                  <a:tcPr marL="32733" marR="32733" marT="32733" marB="65465">
                    <a:lnL w="12700" cmpd="sng">
                      <a:noFill/>
                      <a:prstDash val="solid"/>
                    </a:lnL>
                    <a:lnR w="12700" cmpd="sng">
                      <a:noFill/>
                      <a:prstDash val="solid"/>
                    </a:lnR>
                    <a:lnT w="12700" cap="flat" cmpd="sng" algn="ctr">
                      <a:solidFill>
                        <a:schemeClr val="accent1"/>
                      </a:solidFill>
                      <a:prstDash val="solid"/>
                    </a:lnT>
                    <a:lnB w="12700" cmpd="sng">
                      <a:noFill/>
                      <a:prstDash val="solid"/>
                    </a:lnB>
                    <a:solidFill>
                      <a:schemeClr val="bg1">
                        <a:lumMod val="95000"/>
                      </a:schemeClr>
                    </a:solidFill>
                  </a:tcPr>
                </a:tc>
                <a:tc>
                  <a:txBody>
                    <a:bodyPr/>
                    <a:lstStyle/>
                    <a:p>
                      <a:r>
                        <a:rPr lang="en-US" sz="1000" b="0" cap="none" spc="0">
                          <a:solidFill>
                            <a:schemeClr val="tx1"/>
                          </a:solidFill>
                        </a:rPr>
                        <a:t>Including cleaning, transformations, feature engineering, augmentation, etc.</a:t>
                      </a:r>
                    </a:p>
                  </a:txBody>
                  <a:tcPr marL="32733" marR="32733" marT="32733" marB="65465">
                    <a:lnL w="12700" cmpd="sng">
                      <a:noFill/>
                      <a:prstDash val="solid"/>
                    </a:lnL>
                    <a:lnR w="12700" cmpd="sng">
                      <a:noFill/>
                      <a:prstDash val="solid"/>
                    </a:lnR>
                    <a:lnT w="12700" cap="flat" cmpd="sng" algn="ctr">
                      <a:solidFill>
                        <a:schemeClr val="accent1"/>
                      </a:solidFill>
                      <a:prstDash val="solid"/>
                    </a:lnT>
                    <a:lnB w="12700" cmpd="sng">
                      <a:noFill/>
                      <a:prstDash val="solid"/>
                    </a:lnB>
                    <a:solidFill>
                      <a:schemeClr val="bg1">
                        <a:lumMod val="95000"/>
                      </a:schemeClr>
                    </a:solidFill>
                  </a:tcPr>
                </a:tc>
                <a:extLst>
                  <a:ext uri="{0D108BD9-81ED-4DB2-BD59-A6C34878D82A}">
                    <a16:rowId xmlns:a16="http://schemas.microsoft.com/office/drawing/2014/main" val="2931304940"/>
                  </a:ext>
                </a:extLst>
              </a:tr>
              <a:tr h="367253">
                <a:tc>
                  <a:txBody>
                    <a:bodyPr/>
                    <a:lstStyle/>
                    <a:p>
                      <a:r>
                        <a:rPr lang="en-US" sz="1000" b="0" cap="none" spc="0">
                          <a:solidFill>
                            <a:schemeClr val="tx1"/>
                          </a:solidFill>
                        </a:rPr>
                        <a:t>Model(s)</a:t>
                      </a:r>
                    </a:p>
                  </a:txBody>
                  <a:tcPr marL="32733" marR="32733" marT="32733" marB="65465">
                    <a:lnL w="12700" cmpd="sng">
                      <a:noFill/>
                      <a:prstDash val="solid"/>
                    </a:lnL>
                    <a:lnR w="12700" cmpd="sng">
                      <a:noFill/>
                      <a:prstDash val="solid"/>
                    </a:lnR>
                    <a:lnT w="12700" cmpd="sng">
                      <a:noFill/>
                      <a:prstDash val="solid"/>
                    </a:lnT>
                    <a:lnB w="12700" cap="flat" cmpd="sng" algn="ctr">
                      <a:solidFill>
                        <a:schemeClr val="accent1"/>
                      </a:solidFill>
                      <a:prstDash val="solid"/>
                    </a:lnB>
                    <a:noFill/>
                  </a:tcPr>
                </a:tc>
                <a:tc>
                  <a:txBody>
                    <a:bodyPr/>
                    <a:lstStyle/>
                    <a:p>
                      <a:r>
                        <a:rPr lang="en-US" sz="1000" cap="none" spc="0">
                          <a:solidFill>
                            <a:schemeClr val="tx1"/>
                          </a:solidFill>
                        </a:rPr>
                        <a:t>Linear Regression, Ridge Regression, Random Forest, XGBoost, CatBoost, LinearSVR, LightGBM</a:t>
                      </a:r>
                      <a:endParaRPr lang="en-US" sz="1000" b="0" cap="none" spc="0">
                        <a:solidFill>
                          <a:schemeClr val="tx1"/>
                        </a:solidFill>
                      </a:endParaRPr>
                    </a:p>
                  </a:txBody>
                  <a:tcPr marL="32733" marR="32733" marT="32733" marB="65465">
                    <a:lnL w="12700" cmpd="sng">
                      <a:noFill/>
                      <a:prstDash val="solid"/>
                    </a:lnL>
                    <a:lnR w="12700" cmpd="sng">
                      <a:noFill/>
                      <a:prstDash val="solid"/>
                    </a:lnR>
                    <a:lnT w="12700" cmpd="sng">
                      <a:noFill/>
                      <a:prstDash val="solid"/>
                    </a:lnT>
                    <a:lnB w="12700" cap="flat" cmpd="sng" algn="ctr">
                      <a:solidFill>
                        <a:schemeClr val="accent1"/>
                      </a:solidFill>
                      <a:prstDash val="solid"/>
                    </a:lnB>
                    <a:noFill/>
                  </a:tcPr>
                </a:tc>
                <a:extLst>
                  <a:ext uri="{0D108BD9-81ED-4DB2-BD59-A6C34878D82A}">
                    <a16:rowId xmlns:a16="http://schemas.microsoft.com/office/drawing/2014/main" val="277168146"/>
                  </a:ext>
                </a:extLst>
              </a:tr>
              <a:tr h="367253">
                <a:tc>
                  <a:txBody>
                    <a:bodyPr/>
                    <a:lstStyle/>
                    <a:p>
                      <a:r>
                        <a:rPr lang="en-US" sz="1000" b="0" cap="none" spc="0">
                          <a:solidFill>
                            <a:schemeClr val="tx1"/>
                          </a:solidFill>
                        </a:rPr>
                        <a:t>MLOps tool</a:t>
                      </a:r>
                    </a:p>
                  </a:txBody>
                  <a:tcPr marL="32733" marR="32733" marT="32733" marB="65465">
                    <a:lnL w="12700" cmpd="sng">
                      <a:noFill/>
                      <a:prstDash val="solid"/>
                    </a:lnL>
                    <a:lnR w="12700" cmpd="sng">
                      <a:noFill/>
                      <a:prstDash val="solid"/>
                    </a:lnR>
                    <a:lnT w="12700" cap="flat" cmpd="sng" algn="ctr">
                      <a:solidFill>
                        <a:schemeClr val="accent1"/>
                      </a:solidFill>
                      <a:prstDash val="solid"/>
                    </a:lnT>
                    <a:lnB w="12700" cmpd="sng">
                      <a:noFill/>
                      <a:prstDash val="solid"/>
                    </a:lnB>
                    <a:solidFill>
                      <a:schemeClr val="bg1">
                        <a:lumMod val="95000"/>
                      </a:schemeClr>
                    </a:solidFill>
                  </a:tcPr>
                </a:tc>
                <a:tc>
                  <a:txBody>
                    <a:bodyPr/>
                    <a:lstStyle/>
                    <a:p>
                      <a:r>
                        <a:rPr lang="en-US" sz="1000" cap="none" spc="0" dirty="0">
                          <a:solidFill>
                            <a:schemeClr val="tx1"/>
                          </a:solidFill>
                        </a:rPr>
                        <a:t>Used for experiment tracking, parameter logging, fold-level metrics, and model comparison.</a:t>
                      </a:r>
                      <a:endParaRPr lang="en-US" sz="1000" b="0" cap="none" spc="0" dirty="0">
                        <a:solidFill>
                          <a:schemeClr val="tx1"/>
                        </a:solidFill>
                      </a:endParaRPr>
                    </a:p>
                  </a:txBody>
                  <a:tcPr marL="32733" marR="32733" marT="32733" marB="65465">
                    <a:lnL w="12700" cmpd="sng">
                      <a:noFill/>
                      <a:prstDash val="solid"/>
                    </a:lnL>
                    <a:lnR w="12700" cmpd="sng">
                      <a:noFill/>
                      <a:prstDash val="solid"/>
                    </a:lnR>
                    <a:lnT w="12700" cap="flat" cmpd="sng" algn="ctr">
                      <a:solidFill>
                        <a:schemeClr val="accent1"/>
                      </a:solidFill>
                      <a:prstDash val="solid"/>
                    </a:lnT>
                    <a:lnB w="12700" cmpd="sng">
                      <a:noFill/>
                      <a:prstDash val="solid"/>
                    </a:lnB>
                    <a:solidFill>
                      <a:schemeClr val="bg1">
                        <a:lumMod val="95000"/>
                      </a:schemeClr>
                    </a:solidFill>
                  </a:tcPr>
                </a:tc>
                <a:extLst>
                  <a:ext uri="{0D108BD9-81ED-4DB2-BD59-A6C34878D82A}">
                    <a16:rowId xmlns:a16="http://schemas.microsoft.com/office/drawing/2014/main" val="3007960938"/>
                  </a:ext>
                </a:extLst>
              </a:tr>
              <a:tr h="367253">
                <a:tc>
                  <a:txBody>
                    <a:bodyPr/>
                    <a:lstStyle/>
                    <a:p>
                      <a:r>
                        <a:rPr lang="en-US" sz="1000" b="0" cap="none" spc="0">
                          <a:solidFill>
                            <a:schemeClr val="tx1"/>
                          </a:solidFill>
                        </a:rPr>
                        <a:t>Evaluation metric</a:t>
                      </a:r>
                    </a:p>
                  </a:txBody>
                  <a:tcPr marL="32733" marR="32733" marT="32733" marB="65465">
                    <a:lnL w="12700" cmpd="sng">
                      <a:noFill/>
                      <a:prstDash val="solid"/>
                    </a:lnL>
                    <a:lnR w="12700" cmpd="sng">
                      <a:noFill/>
                      <a:prstDash val="solid"/>
                    </a:lnR>
                    <a:lnT w="12700" cmpd="sng">
                      <a:noFill/>
                      <a:prstDash val="solid"/>
                    </a:lnT>
                    <a:lnB w="12700" cap="flat" cmpd="sng" algn="ctr">
                      <a:solidFill>
                        <a:schemeClr val="accent1"/>
                      </a:solidFill>
                      <a:prstDash val="solid"/>
                    </a:lnB>
                    <a:noFill/>
                  </a:tcPr>
                </a:tc>
                <a:tc>
                  <a:txBody>
                    <a:bodyPr/>
                    <a:lstStyle/>
                    <a:p>
                      <a:r>
                        <a:rPr lang="en-US" sz="1000" b="0" cap="none" spc="0" dirty="0">
                          <a:solidFill>
                            <a:schemeClr val="tx1"/>
                          </a:solidFill>
                        </a:rPr>
                        <a:t>MAE, RMSE, Spearman correlation</a:t>
                      </a:r>
                      <a:r>
                        <a:rPr lang="en-US" sz="1000" b="1" cap="none" spc="0" dirty="0">
                          <a:solidFill>
                            <a:schemeClr val="tx1"/>
                          </a:solidFill>
                        </a:rPr>
                        <a:t>, </a:t>
                      </a:r>
                      <a:r>
                        <a:rPr lang="en-US" sz="1000" cap="none" spc="0" dirty="0">
                          <a:solidFill>
                            <a:schemeClr val="tx1"/>
                          </a:solidFill>
                        </a:rPr>
                        <a:t>R² score. </a:t>
                      </a:r>
                      <a:endParaRPr lang="en-US" sz="1000" b="0" cap="none" spc="0" dirty="0">
                        <a:solidFill>
                          <a:schemeClr val="tx1"/>
                        </a:solidFill>
                      </a:endParaRPr>
                    </a:p>
                  </a:txBody>
                  <a:tcPr marL="32733" marR="32733" marT="32733" marB="65465">
                    <a:lnL w="12700" cmpd="sng">
                      <a:noFill/>
                      <a:prstDash val="solid"/>
                    </a:lnL>
                    <a:lnR w="12700" cmpd="sng">
                      <a:noFill/>
                      <a:prstDash val="solid"/>
                    </a:lnR>
                    <a:lnT w="12700" cmpd="sng">
                      <a:noFill/>
                      <a:prstDash val="solid"/>
                    </a:lnT>
                    <a:lnB w="12700" cap="flat" cmpd="sng" algn="ctr">
                      <a:solidFill>
                        <a:schemeClr val="accent1"/>
                      </a:solidFill>
                      <a:prstDash val="solid"/>
                    </a:lnB>
                    <a:noFill/>
                  </a:tcPr>
                </a:tc>
                <a:extLst>
                  <a:ext uri="{0D108BD9-81ED-4DB2-BD59-A6C34878D82A}">
                    <a16:rowId xmlns:a16="http://schemas.microsoft.com/office/drawing/2014/main" val="3995779274"/>
                  </a:ext>
                </a:extLst>
              </a:tr>
              <a:tr h="367253">
                <a:tc>
                  <a:txBody>
                    <a:bodyPr/>
                    <a:lstStyle/>
                    <a:p>
                      <a:r>
                        <a:rPr lang="en-US" sz="1000" b="0" cap="none" spc="0">
                          <a:solidFill>
                            <a:schemeClr val="tx1"/>
                          </a:solidFill>
                        </a:rPr>
                        <a:t>Best score(s)</a:t>
                      </a:r>
                    </a:p>
                  </a:txBody>
                  <a:tcPr marL="32733" marR="32733" marT="32733" marB="65465">
                    <a:lnL w="12700" cmpd="sng">
                      <a:noFill/>
                      <a:prstDash val="solid"/>
                    </a:lnL>
                    <a:lnR w="12700" cmpd="sng">
                      <a:noFill/>
                      <a:prstDash val="solid"/>
                    </a:lnR>
                    <a:lnT w="12700" cap="flat" cmpd="sng" algn="ctr">
                      <a:solidFill>
                        <a:schemeClr val="accent1"/>
                      </a:solidFill>
                      <a:prstDash val="solid"/>
                    </a:lnT>
                    <a:lnB w="12700" cmpd="sng">
                      <a:noFill/>
                      <a:prstDash val="solid"/>
                    </a:lnB>
                    <a:solidFill>
                      <a:schemeClr val="bg1">
                        <a:lumMod val="95000"/>
                      </a:schemeClr>
                    </a:solidFill>
                  </a:tcPr>
                </a:tc>
                <a:tc>
                  <a:txBody>
                    <a:bodyPr/>
                    <a:lstStyle/>
                    <a:p>
                      <a:r>
                        <a:rPr lang="en-US" sz="1000" b="1" cap="none" spc="0">
                          <a:solidFill>
                            <a:schemeClr val="tx1"/>
                          </a:solidFill>
                        </a:rPr>
                        <a:t>MAE:</a:t>
                      </a:r>
                      <a:r>
                        <a:rPr lang="en-US" sz="1000" cap="none" spc="0">
                          <a:solidFill>
                            <a:schemeClr val="tx1"/>
                          </a:solidFill>
                        </a:rPr>
                        <a:t> </a:t>
                      </a:r>
                      <a:r>
                        <a:rPr lang="en-US" sz="1000" b="1" cap="none" spc="0">
                          <a:solidFill>
                            <a:schemeClr val="tx1"/>
                          </a:solidFill>
                        </a:rPr>
                        <a:t>267.1, RMSE:</a:t>
                      </a:r>
                      <a:r>
                        <a:rPr lang="en-US" sz="1000" cap="none" spc="0">
                          <a:solidFill>
                            <a:schemeClr val="tx1"/>
                          </a:solidFill>
                        </a:rPr>
                        <a:t> </a:t>
                      </a:r>
                      <a:r>
                        <a:rPr lang="en-US" sz="1000" b="1" cap="none" spc="0">
                          <a:solidFill>
                            <a:schemeClr val="tx1"/>
                          </a:solidFill>
                        </a:rPr>
                        <a:t>351.2, R²:</a:t>
                      </a:r>
                      <a:r>
                        <a:rPr lang="en-US" sz="1000" cap="none" spc="0">
                          <a:solidFill>
                            <a:schemeClr val="tx1"/>
                          </a:solidFill>
                        </a:rPr>
                        <a:t> </a:t>
                      </a:r>
                      <a:r>
                        <a:rPr lang="en-US" sz="1000" b="1" cap="none" spc="0">
                          <a:solidFill>
                            <a:schemeClr val="tx1"/>
                          </a:solidFill>
                        </a:rPr>
                        <a:t>0.798, Spearman:</a:t>
                      </a:r>
                      <a:r>
                        <a:rPr lang="en-US" sz="1000" cap="none" spc="0">
                          <a:solidFill>
                            <a:schemeClr val="tx1"/>
                          </a:solidFill>
                        </a:rPr>
                        <a:t> </a:t>
                      </a:r>
                      <a:r>
                        <a:rPr lang="en-US" sz="1000" b="1" cap="none" spc="0">
                          <a:solidFill>
                            <a:schemeClr val="tx1"/>
                          </a:solidFill>
                        </a:rPr>
                        <a:t>0.904 </a:t>
                      </a:r>
                      <a:r>
                        <a:rPr lang="en-US" sz="1000" cap="none" spc="0">
                          <a:solidFill>
                            <a:schemeClr val="tx1"/>
                          </a:solidFill>
                        </a:rPr>
                        <a:t>LightGBM (Final Test)</a:t>
                      </a:r>
                      <a:endParaRPr lang="en-US" sz="1000" b="0" cap="none" spc="0">
                        <a:solidFill>
                          <a:schemeClr val="tx1"/>
                        </a:solidFill>
                      </a:endParaRPr>
                    </a:p>
                  </a:txBody>
                  <a:tcPr marL="32733" marR="32733" marT="32733" marB="65465">
                    <a:lnL w="12700" cmpd="sng">
                      <a:noFill/>
                      <a:prstDash val="solid"/>
                    </a:lnL>
                    <a:lnR w="12700" cmpd="sng">
                      <a:noFill/>
                      <a:prstDash val="solid"/>
                    </a:lnR>
                    <a:lnT w="12700" cap="flat" cmpd="sng" algn="ctr">
                      <a:solidFill>
                        <a:schemeClr val="accent1"/>
                      </a:solidFill>
                      <a:prstDash val="solid"/>
                    </a:lnT>
                    <a:lnB w="12700" cmpd="sng">
                      <a:noFill/>
                      <a:prstDash val="solid"/>
                    </a:lnB>
                    <a:solidFill>
                      <a:schemeClr val="bg1">
                        <a:lumMod val="95000"/>
                      </a:schemeClr>
                    </a:solidFill>
                  </a:tcPr>
                </a:tc>
                <a:extLst>
                  <a:ext uri="{0D108BD9-81ED-4DB2-BD59-A6C34878D82A}">
                    <a16:rowId xmlns:a16="http://schemas.microsoft.com/office/drawing/2014/main" val="3791894106"/>
                  </a:ext>
                </a:extLst>
              </a:tr>
              <a:tr h="1529882">
                <a:tc>
                  <a:txBody>
                    <a:bodyPr/>
                    <a:lstStyle/>
                    <a:p>
                      <a:r>
                        <a:rPr lang="en-US" sz="1000" b="0" cap="none" spc="0">
                          <a:solidFill>
                            <a:schemeClr val="tx1"/>
                          </a:solidFill>
                        </a:rPr>
                        <a:t>Interpretation</a:t>
                      </a:r>
                    </a:p>
                  </a:txBody>
                  <a:tcPr marL="32733" marR="32733" marT="32733" marB="65465">
                    <a:lnL w="12700" cmpd="sng">
                      <a:noFill/>
                      <a:prstDash val="solid"/>
                    </a:lnL>
                    <a:lnR w="12700" cmpd="sng">
                      <a:noFill/>
                      <a:prstDash val="solid"/>
                    </a:lnR>
                    <a:lnT w="12700" cmpd="sng">
                      <a:noFill/>
                      <a:prstDash val="solid"/>
                    </a:lnT>
                    <a:lnB w="12700" cmpd="sng">
                      <a:noFill/>
                      <a:prstDash val="solid"/>
                    </a:lnB>
                    <a:noFill/>
                  </a:tcPr>
                </a:tc>
                <a:tc>
                  <a:txBody>
                    <a:bodyPr/>
                    <a:lstStyle/>
                    <a:p>
                      <a:r>
                        <a:rPr lang="en-US" sz="1000" cap="none" spc="0" dirty="0">
                          <a:solidFill>
                            <a:schemeClr val="tx1"/>
                          </a:solidFill>
                        </a:rPr>
                        <a:t>Tree-based models significantly outperform linear approaches across all feature configurations, highlighting the non-linear relationship between problem characteristics and difficulty. While numeric features alone already provide strong predictive signals, incorporating textual information through TF-IDF further improves performance when combined with gradient-boosted trees. Semantic sentence embeddings, although effective, do not surpass TF-IDF representations, suggesting that lexical and structural cues in problem statements are more informative than high-level semantics for this task. The final LightGBM model with TF-IDF and numeric features achieves the best overall performance, demonstrating strong generalization and ranking consistency.</a:t>
                      </a:r>
                      <a:endParaRPr lang="en-US" sz="1000" b="0" cap="none" spc="0" dirty="0">
                        <a:solidFill>
                          <a:schemeClr val="tx1"/>
                        </a:solidFill>
                      </a:endParaRPr>
                    </a:p>
                  </a:txBody>
                  <a:tcPr marL="32733" marR="32733" marT="32733" marB="65465">
                    <a:lnL w="12700" cmpd="sng">
                      <a:noFill/>
                      <a:prstDash val="solid"/>
                    </a:lnL>
                    <a:lnR w="12700" cmpd="sng">
                      <a:noFill/>
                      <a:prstDash val="solid"/>
                    </a:lnR>
                    <a:lnT w="12700" cmpd="sng">
                      <a:noFill/>
                      <a:prstDash val="solid"/>
                    </a:lnT>
                    <a:lnB w="12700" cmpd="sng">
                      <a:noFill/>
                      <a:prstDash val="solid"/>
                    </a:lnB>
                    <a:noFill/>
                  </a:tcPr>
                </a:tc>
                <a:extLst>
                  <a:ext uri="{0D108BD9-81ED-4DB2-BD59-A6C34878D82A}">
                    <a16:rowId xmlns:a16="http://schemas.microsoft.com/office/drawing/2014/main" val="3771057578"/>
                  </a:ext>
                </a:extLst>
              </a:tr>
            </a:tbl>
          </a:graphicData>
        </a:graphic>
      </p:graphicFrame>
    </p:spTree>
    <p:extLst>
      <p:ext uri="{BB962C8B-B14F-4D97-AF65-F5344CB8AC3E}">
        <p14:creationId xmlns:p14="http://schemas.microsoft.com/office/powerpoint/2010/main" val="30938530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C48C7A-0410-8D27-A2C6-CD1FFF709B25}"/>
              </a:ext>
            </a:extLst>
          </p:cNvPr>
          <p:cNvSpPr>
            <a:spLocks noGrp="1"/>
          </p:cNvSpPr>
          <p:nvPr>
            <p:ph type="title"/>
          </p:nvPr>
        </p:nvSpPr>
        <p:spPr/>
        <p:txBody>
          <a:bodyPr/>
          <a:lstStyle/>
          <a:p>
            <a:r>
              <a:rPr lang="en-US" dirty="0"/>
              <a:t>Contributions</a:t>
            </a:r>
          </a:p>
        </p:txBody>
      </p:sp>
      <p:graphicFrame>
        <p:nvGraphicFramePr>
          <p:cNvPr id="4" name="Content Placeholder 3">
            <a:extLst>
              <a:ext uri="{FF2B5EF4-FFF2-40B4-BE49-F238E27FC236}">
                <a16:creationId xmlns:a16="http://schemas.microsoft.com/office/drawing/2014/main" id="{CF952594-BAF1-16D9-79B4-34B745DB501A}"/>
              </a:ext>
            </a:extLst>
          </p:cNvPr>
          <p:cNvGraphicFramePr>
            <a:graphicFrameLocks noGrp="1"/>
          </p:cNvGraphicFramePr>
          <p:nvPr>
            <p:ph idx="1"/>
            <p:extLst>
              <p:ext uri="{D42A27DB-BD31-4B8C-83A1-F6EECF244321}">
                <p14:modId xmlns:p14="http://schemas.microsoft.com/office/powerpoint/2010/main" val="823037334"/>
              </p:ext>
            </p:extLst>
          </p:nvPr>
        </p:nvGraphicFramePr>
        <p:xfrm>
          <a:off x="609600" y="2133600"/>
          <a:ext cx="10344912" cy="2326640"/>
        </p:xfrm>
        <a:graphic>
          <a:graphicData uri="http://schemas.openxmlformats.org/drawingml/2006/table">
            <a:tbl>
              <a:tblPr firstRow="1" bandRow="1">
                <a:tableStyleId>{5C22544A-7EE6-4342-B048-85BDC9FD1C3A}</a:tableStyleId>
              </a:tblPr>
              <a:tblGrid>
                <a:gridCol w="5493005">
                  <a:extLst>
                    <a:ext uri="{9D8B030D-6E8A-4147-A177-3AD203B41FA5}">
                      <a16:colId xmlns:a16="http://schemas.microsoft.com/office/drawing/2014/main" val="82392138"/>
                    </a:ext>
                  </a:extLst>
                </a:gridCol>
                <a:gridCol w="4851907">
                  <a:extLst>
                    <a:ext uri="{9D8B030D-6E8A-4147-A177-3AD203B41FA5}">
                      <a16:colId xmlns:a16="http://schemas.microsoft.com/office/drawing/2014/main" val="2430409656"/>
                    </a:ext>
                  </a:extLst>
                </a:gridCol>
              </a:tblGrid>
              <a:tr h="581660">
                <a:tc>
                  <a:txBody>
                    <a:bodyPr/>
                    <a:lstStyle/>
                    <a:p>
                      <a:r>
                        <a:rPr lang="en-US" dirty="0"/>
                        <a:t>Team Member</a:t>
                      </a:r>
                    </a:p>
                  </a:txBody>
                  <a:tcPr>
                    <a:solidFill>
                      <a:schemeClr val="bg2"/>
                    </a:solidFill>
                  </a:tcPr>
                </a:tc>
                <a:tc>
                  <a:txBody>
                    <a:bodyPr/>
                    <a:lstStyle/>
                    <a:p>
                      <a:r>
                        <a:rPr lang="en-US" dirty="0"/>
                        <a:t>Contribution</a:t>
                      </a:r>
                    </a:p>
                  </a:txBody>
                  <a:tcPr>
                    <a:solidFill>
                      <a:schemeClr val="bg2"/>
                    </a:solidFill>
                  </a:tcPr>
                </a:tc>
                <a:extLst>
                  <a:ext uri="{0D108BD9-81ED-4DB2-BD59-A6C34878D82A}">
                    <a16:rowId xmlns:a16="http://schemas.microsoft.com/office/drawing/2014/main" val="3288291625"/>
                  </a:ext>
                </a:extLst>
              </a:tr>
              <a:tr h="581660">
                <a:tc>
                  <a:txBody>
                    <a:bodyPr/>
                    <a:lstStyle/>
                    <a:p>
                      <a:r>
                        <a:rPr lang="en-US" dirty="0"/>
                        <a:t>&lt;Nargiz Aghayeva&gt;</a:t>
                      </a:r>
                    </a:p>
                  </a:txBody>
                  <a:tcPr/>
                </a:tc>
                <a:tc>
                  <a:txBody>
                    <a:bodyPr/>
                    <a:lstStyle/>
                    <a:p>
                      <a:r>
                        <a:rPr lang="en-US" dirty="0"/>
                        <a:t>33%</a:t>
                      </a:r>
                    </a:p>
                  </a:txBody>
                  <a:tcPr/>
                </a:tc>
                <a:extLst>
                  <a:ext uri="{0D108BD9-81ED-4DB2-BD59-A6C34878D82A}">
                    <a16:rowId xmlns:a16="http://schemas.microsoft.com/office/drawing/2014/main" val="4156927016"/>
                  </a:ext>
                </a:extLst>
              </a:tr>
              <a:tr h="581660">
                <a:tc>
                  <a:txBody>
                    <a:bodyPr/>
                    <a:lstStyle/>
                    <a:p>
                      <a:r>
                        <a:rPr lang="en-US" dirty="0"/>
                        <a:t>&lt;Raul Aghayev&gt;</a:t>
                      </a:r>
                    </a:p>
                  </a:txBody>
                  <a:tcPr/>
                </a:tc>
                <a:tc>
                  <a:txBody>
                    <a:bodyPr/>
                    <a:lstStyle/>
                    <a:p>
                      <a:r>
                        <a:rPr lang="en-US" dirty="0"/>
                        <a:t>33%</a:t>
                      </a:r>
                    </a:p>
                  </a:txBody>
                  <a:tcPr/>
                </a:tc>
                <a:extLst>
                  <a:ext uri="{0D108BD9-81ED-4DB2-BD59-A6C34878D82A}">
                    <a16:rowId xmlns:a16="http://schemas.microsoft.com/office/drawing/2014/main" val="3770778765"/>
                  </a:ext>
                </a:extLst>
              </a:tr>
              <a:tr h="581660">
                <a:tc>
                  <a:txBody>
                    <a:bodyPr/>
                    <a:lstStyle/>
                    <a:p>
                      <a:r>
                        <a:rPr lang="en-US" dirty="0"/>
                        <a:t>&lt;Arzu Mammadova&gt;</a:t>
                      </a:r>
                    </a:p>
                  </a:txBody>
                  <a:tcPr/>
                </a:tc>
                <a:tc>
                  <a:txBody>
                    <a:bodyPr/>
                    <a:lstStyle/>
                    <a:p>
                      <a:r>
                        <a:rPr lang="en-US" dirty="0"/>
                        <a:t>33%</a:t>
                      </a:r>
                    </a:p>
                  </a:txBody>
                  <a:tcPr/>
                </a:tc>
                <a:extLst>
                  <a:ext uri="{0D108BD9-81ED-4DB2-BD59-A6C34878D82A}">
                    <a16:rowId xmlns:a16="http://schemas.microsoft.com/office/drawing/2014/main" val="3666559122"/>
                  </a:ext>
                </a:extLst>
              </a:tr>
            </a:tbl>
          </a:graphicData>
        </a:graphic>
      </p:graphicFrame>
    </p:spTree>
    <p:extLst>
      <p:ext uri="{BB962C8B-B14F-4D97-AF65-F5344CB8AC3E}">
        <p14:creationId xmlns:p14="http://schemas.microsoft.com/office/powerpoint/2010/main" val="11283193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AF7F9A-9079-1C67-FB4D-6AD23E26167F}"/>
              </a:ext>
            </a:extLst>
          </p:cNvPr>
          <p:cNvSpPr>
            <a:spLocks noGrp="1"/>
          </p:cNvSpPr>
          <p:nvPr>
            <p:ph type="title"/>
          </p:nvPr>
        </p:nvSpPr>
        <p:spPr>
          <a:xfrm>
            <a:off x="3937994" y="365760"/>
            <a:ext cx="6977857" cy="1325562"/>
          </a:xfrm>
        </p:spPr>
        <p:txBody>
          <a:bodyPr>
            <a:normAutofit/>
          </a:bodyPr>
          <a:lstStyle/>
          <a:p>
            <a:r>
              <a:rPr lang="en-US" dirty="0"/>
              <a:t>Problem Statement</a:t>
            </a:r>
          </a:p>
        </p:txBody>
      </p:sp>
      <p:pic>
        <p:nvPicPr>
          <p:cNvPr id="5" name="Picture 4" descr="Computer script on a screen">
            <a:extLst>
              <a:ext uri="{FF2B5EF4-FFF2-40B4-BE49-F238E27FC236}">
                <a16:creationId xmlns:a16="http://schemas.microsoft.com/office/drawing/2014/main" id="{E1A85434-D1B2-7166-59DC-8DC21D70328A}"/>
              </a:ext>
            </a:extLst>
          </p:cNvPr>
          <p:cNvPicPr>
            <a:picLocks noChangeAspect="1"/>
          </p:cNvPicPr>
          <p:nvPr/>
        </p:nvPicPr>
        <p:blipFill>
          <a:blip r:embed="rId2"/>
          <a:srcRect l="12812" r="52584" b="-1"/>
          <a:stretch>
            <a:fillRect/>
          </a:stretch>
        </p:blipFill>
        <p:spPr>
          <a:xfrm>
            <a:off x="20" y="10"/>
            <a:ext cx="3555185" cy="6857990"/>
          </a:xfrm>
          <a:prstGeom prst="rect">
            <a:avLst/>
          </a:prstGeom>
        </p:spPr>
      </p:pic>
      <p:sp>
        <p:nvSpPr>
          <p:cNvPr id="3" name="Content Placeholder 2">
            <a:extLst>
              <a:ext uri="{FF2B5EF4-FFF2-40B4-BE49-F238E27FC236}">
                <a16:creationId xmlns:a16="http://schemas.microsoft.com/office/drawing/2014/main" id="{BE4FFB68-5B4B-E3F1-99F5-7AA545F35804}"/>
              </a:ext>
            </a:extLst>
          </p:cNvPr>
          <p:cNvSpPr>
            <a:spLocks noGrp="1"/>
          </p:cNvSpPr>
          <p:nvPr>
            <p:ph idx="1"/>
          </p:nvPr>
        </p:nvSpPr>
        <p:spPr>
          <a:xfrm>
            <a:off x="3937994" y="2005739"/>
            <a:ext cx="6977857" cy="4174398"/>
          </a:xfrm>
        </p:spPr>
        <p:txBody>
          <a:bodyPr>
            <a:normAutofit/>
          </a:bodyPr>
          <a:lstStyle/>
          <a:p>
            <a:pPr marL="0" indent="0">
              <a:buNone/>
            </a:pPr>
            <a:endParaRPr lang="en-US" sz="1500" dirty="0"/>
          </a:p>
          <a:p>
            <a:pPr marL="0" indent="0">
              <a:buNone/>
            </a:pPr>
            <a:r>
              <a:rPr lang="en-US" sz="1500" dirty="0"/>
              <a:t>Competitive programming problems are assigned difficulty ratings manually, based on expert judgment and contest outcomes.</a:t>
            </a:r>
            <a:br>
              <a:rPr lang="en-US" sz="1500" dirty="0"/>
            </a:br>
            <a:r>
              <a:rPr lang="en-US" sz="1500" dirty="0"/>
              <a:t>This process is </a:t>
            </a:r>
            <a:r>
              <a:rPr lang="en-US" sz="1500" b="1" dirty="0"/>
              <a:t>time-consuming, subjective, and difficult to scale</a:t>
            </a:r>
            <a:r>
              <a:rPr lang="en-US" sz="1500" dirty="0"/>
              <a:t>, especially as thousands of new problems are added each year.</a:t>
            </a:r>
            <a:br>
              <a:rPr lang="en-US" sz="1500" dirty="0"/>
            </a:br>
            <a:r>
              <a:rPr lang="en-US" sz="1500" dirty="0"/>
              <a:t>Our goal is to </a:t>
            </a:r>
            <a:r>
              <a:rPr lang="en-US" sz="1500" b="1" dirty="0"/>
              <a:t>automatically predict problem difficulty</a:t>
            </a:r>
            <a:r>
              <a:rPr lang="en-US" sz="1500" dirty="0"/>
              <a:t> using the problem statement text and contest metadata, while preserving the correct </a:t>
            </a:r>
            <a:r>
              <a:rPr lang="en-US" sz="1500" i="1" dirty="0"/>
              <a:t>relative ordering</a:t>
            </a:r>
            <a:r>
              <a:rPr lang="en-US" sz="1500" dirty="0"/>
              <a:t> of problem difficulty.</a:t>
            </a:r>
          </a:p>
          <a:p>
            <a:r>
              <a:rPr lang="en-US" sz="1500" dirty="0"/>
              <a:t>We investigate:</a:t>
            </a:r>
          </a:p>
          <a:p>
            <a:r>
              <a:rPr lang="en-US" sz="1500" dirty="0"/>
              <a:t>How well </a:t>
            </a:r>
            <a:r>
              <a:rPr lang="en-US" sz="1500" b="1" dirty="0"/>
              <a:t>numeric metadata alone</a:t>
            </a:r>
            <a:r>
              <a:rPr lang="en-US" sz="1500" dirty="0"/>
              <a:t> predicts difficulty</a:t>
            </a:r>
          </a:p>
          <a:p>
            <a:r>
              <a:rPr lang="en-US" sz="1500" dirty="0"/>
              <a:t>How much </a:t>
            </a:r>
            <a:r>
              <a:rPr lang="en-US" sz="1500" b="1" dirty="0"/>
              <a:t>textual information improves performance</a:t>
            </a:r>
            <a:endParaRPr lang="en-US" sz="1500" dirty="0"/>
          </a:p>
          <a:p>
            <a:r>
              <a:rPr lang="en-US" sz="1500" dirty="0"/>
              <a:t>Which machine learning models perform best for this task</a:t>
            </a:r>
          </a:p>
          <a:p>
            <a:pPr marL="0" indent="0">
              <a:buNone/>
            </a:pPr>
            <a:endParaRPr lang="en-US" sz="1500" dirty="0"/>
          </a:p>
        </p:txBody>
      </p:sp>
    </p:spTree>
    <p:extLst>
      <p:ext uri="{BB962C8B-B14F-4D97-AF65-F5344CB8AC3E}">
        <p14:creationId xmlns:p14="http://schemas.microsoft.com/office/powerpoint/2010/main" val="8214874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82054B-2CB7-D30A-E49A-A9FF79886AFC}"/>
              </a:ext>
            </a:extLst>
          </p:cNvPr>
          <p:cNvSpPr>
            <a:spLocks noGrp="1"/>
          </p:cNvSpPr>
          <p:nvPr>
            <p:ph type="title"/>
          </p:nvPr>
        </p:nvSpPr>
        <p:spPr>
          <a:xfrm>
            <a:off x="294640" y="107644"/>
            <a:ext cx="11511280" cy="535823"/>
          </a:xfrm>
        </p:spPr>
        <p:txBody>
          <a:bodyPr>
            <a:normAutofit fontScale="90000"/>
          </a:bodyPr>
          <a:lstStyle/>
          <a:p>
            <a:r>
              <a:rPr lang="en-US" dirty="0"/>
              <a:t>Data</a:t>
            </a:r>
          </a:p>
        </p:txBody>
      </p:sp>
      <p:sp>
        <p:nvSpPr>
          <p:cNvPr id="7" name="TextBox 6">
            <a:extLst>
              <a:ext uri="{FF2B5EF4-FFF2-40B4-BE49-F238E27FC236}">
                <a16:creationId xmlns:a16="http://schemas.microsoft.com/office/drawing/2014/main" id="{A28F060A-4A9B-0048-C716-B59D1E0A4E36}"/>
              </a:ext>
            </a:extLst>
          </p:cNvPr>
          <p:cNvSpPr txBox="1"/>
          <p:nvPr/>
        </p:nvSpPr>
        <p:spPr>
          <a:xfrm>
            <a:off x="294640" y="3581400"/>
            <a:ext cx="9167707" cy="3108543"/>
          </a:xfrm>
          <a:prstGeom prst="rect">
            <a:avLst/>
          </a:prstGeom>
          <a:noFill/>
        </p:spPr>
        <p:txBody>
          <a:bodyPr wrap="square">
            <a:spAutoFit/>
          </a:bodyPr>
          <a:lstStyle/>
          <a:p>
            <a:pPr marL="171450" indent="-171450">
              <a:buFont typeface="Wingdings" panose="05000000000000000000" pitchFamily="2" charset="2"/>
              <a:buChar char="v"/>
            </a:pPr>
            <a:r>
              <a:rPr lang="en-US" sz="1400" dirty="0">
                <a:latin typeface="+mj-lt"/>
              </a:rPr>
              <a:t>Dataset Overview</a:t>
            </a:r>
          </a:p>
          <a:p>
            <a:pPr marL="742950" lvl="1" indent="-285750">
              <a:buFont typeface="Wingdings" panose="05000000000000000000" pitchFamily="2" charset="2"/>
              <a:buChar char="§"/>
            </a:pPr>
            <a:r>
              <a:rPr lang="en-US" sz="1400" dirty="0">
                <a:latin typeface="+mj-lt"/>
              </a:rPr>
              <a:t>9,556 competitive programming problems from Codeforces</a:t>
            </a:r>
          </a:p>
          <a:p>
            <a:pPr marL="742950" lvl="1" indent="-285750">
              <a:buFont typeface="Wingdings" panose="05000000000000000000" pitchFamily="2" charset="2"/>
              <a:buChar char="§"/>
            </a:pPr>
            <a:r>
              <a:rPr lang="en-US" sz="1400" dirty="0">
                <a:latin typeface="+mj-lt"/>
              </a:rPr>
              <a:t>Each problem includes textual descriptions and contest metadata</a:t>
            </a:r>
          </a:p>
          <a:p>
            <a:pPr marL="742950" lvl="1" indent="-285750">
              <a:buFont typeface="Wingdings" panose="05000000000000000000" pitchFamily="2" charset="2"/>
              <a:buChar char="§"/>
            </a:pPr>
            <a:r>
              <a:rPr lang="en-US" sz="1400" dirty="0">
                <a:latin typeface="+mj-lt"/>
              </a:rPr>
              <a:t>Target variable: problem difficulty rating</a:t>
            </a:r>
          </a:p>
          <a:p>
            <a:pPr marL="285750" indent="-285750">
              <a:buFont typeface="Wingdings" panose="05000000000000000000" pitchFamily="2" charset="2"/>
              <a:buChar char="§"/>
            </a:pPr>
            <a:endParaRPr lang="en-US" sz="1400" dirty="0">
              <a:latin typeface="+mj-lt"/>
            </a:endParaRPr>
          </a:p>
          <a:p>
            <a:pPr marL="171450" indent="-171450">
              <a:buFont typeface="Wingdings" panose="05000000000000000000" pitchFamily="2" charset="2"/>
              <a:buChar char="v"/>
            </a:pPr>
            <a:r>
              <a:rPr lang="en-US" sz="1400" dirty="0">
                <a:latin typeface="+mj-lt"/>
              </a:rPr>
              <a:t>Key EDA Observations</a:t>
            </a:r>
          </a:p>
          <a:p>
            <a:pPr marL="628650" lvl="1" indent="-171450">
              <a:buFont typeface="Wingdings" panose="05000000000000000000" pitchFamily="2" charset="2"/>
              <a:buChar char="§"/>
            </a:pPr>
            <a:r>
              <a:rPr lang="en-US" sz="1400" dirty="0">
                <a:latin typeface="+mj-lt"/>
              </a:rPr>
              <a:t>Problem statements vary widely in length - Descriptions range from very short to nearly 10,000 characters</a:t>
            </a:r>
          </a:p>
          <a:p>
            <a:pPr marL="628650" lvl="1" indent="-171450">
              <a:buFont typeface="Wingdings" panose="05000000000000000000" pitchFamily="2" charset="2"/>
              <a:buChar char="§"/>
            </a:pPr>
            <a:r>
              <a:rPr lang="en-US" sz="1400" dirty="0">
                <a:latin typeface="+mj-lt"/>
              </a:rPr>
              <a:t>Input/output formats show large variance, indicating different implementation complexity</a:t>
            </a:r>
          </a:p>
          <a:p>
            <a:pPr marL="628650" lvl="1" indent="-171450">
              <a:buFont typeface="Wingdings" panose="05000000000000000000" pitchFamily="2" charset="2"/>
              <a:buChar char="§"/>
            </a:pPr>
            <a:r>
              <a:rPr lang="en-US" sz="1400" dirty="0">
                <a:latin typeface="+mj-lt"/>
              </a:rPr>
              <a:t>Text fields exhibit strong right-skewed distributions</a:t>
            </a:r>
          </a:p>
          <a:p>
            <a:pPr marL="628650" lvl="1" indent="-171450">
              <a:buFont typeface="Wingdings" panose="05000000000000000000" pitchFamily="2" charset="2"/>
              <a:buChar char="§"/>
            </a:pPr>
            <a:r>
              <a:rPr lang="en-US" sz="1400" dirty="0">
                <a:latin typeface="+mj-lt"/>
              </a:rPr>
              <a:t>Numeric features alone show moderate correlation with difficulty</a:t>
            </a:r>
          </a:p>
          <a:p>
            <a:pPr marL="628650" lvl="1" indent="-171450">
              <a:buFont typeface="Wingdings" panose="05000000000000000000" pitchFamily="2" charset="2"/>
              <a:buChar char="§"/>
            </a:pPr>
            <a:r>
              <a:rPr lang="en-US" sz="1400" dirty="0">
                <a:latin typeface="+mj-lt"/>
              </a:rPr>
              <a:t>Textual information provides the strongest predictive signal</a:t>
            </a:r>
          </a:p>
          <a:p>
            <a:pPr marL="171450" indent="-171450">
              <a:buFont typeface="Wingdings" panose="05000000000000000000" pitchFamily="2" charset="2"/>
              <a:buChar char="§"/>
            </a:pPr>
            <a:endParaRPr lang="en-US" sz="1400" dirty="0">
              <a:latin typeface="+mj-lt"/>
            </a:endParaRPr>
          </a:p>
          <a:p>
            <a:endParaRPr lang="en-US" sz="1400" dirty="0">
              <a:latin typeface="+mj-lt"/>
            </a:endParaRPr>
          </a:p>
        </p:txBody>
      </p:sp>
      <p:sp>
        <p:nvSpPr>
          <p:cNvPr id="4" name="TextBox 3">
            <a:extLst>
              <a:ext uri="{FF2B5EF4-FFF2-40B4-BE49-F238E27FC236}">
                <a16:creationId xmlns:a16="http://schemas.microsoft.com/office/drawing/2014/main" id="{E138E5E9-4C0E-EDA5-46DD-3642F8879002}"/>
              </a:ext>
            </a:extLst>
          </p:cNvPr>
          <p:cNvSpPr txBox="1"/>
          <p:nvPr/>
        </p:nvSpPr>
        <p:spPr>
          <a:xfrm>
            <a:off x="6468533" y="4307116"/>
            <a:ext cx="5527040" cy="338554"/>
          </a:xfrm>
          <a:prstGeom prst="rect">
            <a:avLst/>
          </a:prstGeom>
          <a:noFill/>
        </p:spPr>
        <p:txBody>
          <a:bodyPr wrap="square">
            <a:spAutoFit/>
          </a:bodyPr>
          <a:lstStyle/>
          <a:p>
            <a:pPr algn="ctr"/>
            <a:endParaRPr lang="en-US" sz="1600" dirty="0">
              <a:latin typeface="+mj-lt"/>
            </a:endParaRPr>
          </a:p>
        </p:txBody>
      </p:sp>
      <p:sp>
        <p:nvSpPr>
          <p:cNvPr id="6" name="AutoShape 2" descr="Uploaded image">
            <a:extLst>
              <a:ext uri="{FF2B5EF4-FFF2-40B4-BE49-F238E27FC236}">
                <a16:creationId xmlns:a16="http://schemas.microsoft.com/office/drawing/2014/main" id="{6DB1AE94-E7D3-48D3-DE18-7B5CBAD4F14D}"/>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9" name="Picture 18">
            <a:extLst>
              <a:ext uri="{FF2B5EF4-FFF2-40B4-BE49-F238E27FC236}">
                <a16:creationId xmlns:a16="http://schemas.microsoft.com/office/drawing/2014/main" id="{209F2B95-27E3-A321-27F0-67C835A1DA45}"/>
              </a:ext>
            </a:extLst>
          </p:cNvPr>
          <p:cNvPicPr>
            <a:picLocks noChangeAspect="1"/>
          </p:cNvPicPr>
          <p:nvPr/>
        </p:nvPicPr>
        <p:blipFill>
          <a:blip r:embed="rId2"/>
          <a:stretch>
            <a:fillRect/>
          </a:stretch>
        </p:blipFill>
        <p:spPr>
          <a:xfrm>
            <a:off x="152400" y="682413"/>
            <a:ext cx="10942320" cy="2898987"/>
          </a:xfrm>
          <a:prstGeom prst="rect">
            <a:avLst/>
          </a:prstGeom>
        </p:spPr>
      </p:pic>
    </p:spTree>
    <p:extLst>
      <p:ext uri="{BB962C8B-B14F-4D97-AF65-F5344CB8AC3E}">
        <p14:creationId xmlns:p14="http://schemas.microsoft.com/office/powerpoint/2010/main" val="21807741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754D7EA-C965-0C26-9D9A-ED46EF53D8DE}"/>
              </a:ext>
            </a:extLst>
          </p:cNvPr>
          <p:cNvPicPr>
            <a:picLocks noChangeAspect="1"/>
          </p:cNvPicPr>
          <p:nvPr/>
        </p:nvPicPr>
        <p:blipFill>
          <a:blip r:embed="rId2"/>
          <a:stretch>
            <a:fillRect/>
          </a:stretch>
        </p:blipFill>
        <p:spPr>
          <a:xfrm>
            <a:off x="0" y="1"/>
            <a:ext cx="12192000" cy="6858000"/>
          </a:xfrm>
          <a:prstGeom prst="rect">
            <a:avLst/>
          </a:prstGeom>
        </p:spPr>
      </p:pic>
    </p:spTree>
    <p:extLst>
      <p:ext uri="{BB962C8B-B14F-4D97-AF65-F5344CB8AC3E}">
        <p14:creationId xmlns:p14="http://schemas.microsoft.com/office/powerpoint/2010/main" val="355439271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5BCA8E9-FDB1-68F8-706A-BCC4A436557D}"/>
              </a:ext>
            </a:extLst>
          </p:cNvPr>
          <p:cNvPicPr>
            <a:picLocks noChangeAspect="1"/>
          </p:cNvPicPr>
          <p:nvPr/>
        </p:nvPicPr>
        <p:blipFill>
          <a:blip r:embed="rId2"/>
          <a:stretch>
            <a:fillRect/>
          </a:stretch>
        </p:blipFill>
        <p:spPr>
          <a:xfrm>
            <a:off x="0" y="365125"/>
            <a:ext cx="6861175" cy="5619750"/>
          </a:xfrm>
          <a:prstGeom prst="rect">
            <a:avLst/>
          </a:prstGeom>
        </p:spPr>
      </p:pic>
      <p:sp>
        <p:nvSpPr>
          <p:cNvPr id="4" name="TextBox 3">
            <a:extLst>
              <a:ext uri="{FF2B5EF4-FFF2-40B4-BE49-F238E27FC236}">
                <a16:creationId xmlns:a16="http://schemas.microsoft.com/office/drawing/2014/main" id="{11F8256A-4CD2-76AC-E2A7-7A7037F4A991}"/>
              </a:ext>
            </a:extLst>
          </p:cNvPr>
          <p:cNvSpPr txBox="1"/>
          <p:nvPr/>
        </p:nvSpPr>
        <p:spPr>
          <a:xfrm>
            <a:off x="1752600" y="6123543"/>
            <a:ext cx="8686800" cy="369332"/>
          </a:xfrm>
          <a:prstGeom prst="rect">
            <a:avLst/>
          </a:prstGeom>
          <a:noFill/>
        </p:spPr>
        <p:txBody>
          <a:bodyPr wrap="square" rtlCol="0">
            <a:spAutoFit/>
          </a:bodyPr>
          <a:lstStyle/>
          <a:p>
            <a:r>
              <a:rPr lang="en-US" dirty="0"/>
              <a:t>Based on the correlation values we decided to keep or remove certain features. </a:t>
            </a:r>
          </a:p>
        </p:txBody>
      </p:sp>
      <p:pic>
        <p:nvPicPr>
          <p:cNvPr id="6" name="Picture 5">
            <a:extLst>
              <a:ext uri="{FF2B5EF4-FFF2-40B4-BE49-F238E27FC236}">
                <a16:creationId xmlns:a16="http://schemas.microsoft.com/office/drawing/2014/main" id="{39E02A29-AFCD-A7C9-2AF0-7448009D51B5}"/>
              </a:ext>
            </a:extLst>
          </p:cNvPr>
          <p:cNvPicPr>
            <a:picLocks noChangeAspect="1"/>
          </p:cNvPicPr>
          <p:nvPr/>
        </p:nvPicPr>
        <p:blipFill>
          <a:blip r:embed="rId3"/>
          <a:stretch>
            <a:fillRect/>
          </a:stretch>
        </p:blipFill>
        <p:spPr>
          <a:xfrm>
            <a:off x="7030720" y="638895"/>
            <a:ext cx="4175760" cy="4827185"/>
          </a:xfrm>
          <a:prstGeom prst="rect">
            <a:avLst/>
          </a:prstGeom>
        </p:spPr>
      </p:pic>
    </p:spTree>
    <p:extLst>
      <p:ext uri="{BB962C8B-B14F-4D97-AF65-F5344CB8AC3E}">
        <p14:creationId xmlns:p14="http://schemas.microsoft.com/office/powerpoint/2010/main" val="37702518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76AD5A1-1E3F-4277-04B9-572EFDCE95C9}"/>
              </a:ext>
            </a:extLst>
          </p:cNvPr>
          <p:cNvPicPr>
            <a:picLocks noChangeAspect="1"/>
          </p:cNvPicPr>
          <p:nvPr/>
        </p:nvPicPr>
        <p:blipFill>
          <a:blip r:embed="rId2"/>
          <a:stretch>
            <a:fillRect/>
          </a:stretch>
        </p:blipFill>
        <p:spPr>
          <a:xfrm>
            <a:off x="0" y="132042"/>
            <a:ext cx="6614160" cy="6329718"/>
          </a:xfrm>
          <a:prstGeom prst="rect">
            <a:avLst/>
          </a:prstGeom>
        </p:spPr>
      </p:pic>
      <p:sp>
        <p:nvSpPr>
          <p:cNvPr id="5" name="TextBox 4">
            <a:extLst>
              <a:ext uri="{FF2B5EF4-FFF2-40B4-BE49-F238E27FC236}">
                <a16:creationId xmlns:a16="http://schemas.microsoft.com/office/drawing/2014/main" id="{75220460-0F4B-6029-E21F-863C79E0752E}"/>
              </a:ext>
            </a:extLst>
          </p:cNvPr>
          <p:cNvSpPr txBox="1"/>
          <p:nvPr/>
        </p:nvSpPr>
        <p:spPr>
          <a:xfrm>
            <a:off x="6786462" y="707529"/>
            <a:ext cx="3931920" cy="5632311"/>
          </a:xfrm>
          <a:prstGeom prst="rect">
            <a:avLst/>
          </a:prstGeom>
          <a:noFill/>
        </p:spPr>
        <p:txBody>
          <a:bodyPr wrap="square">
            <a:spAutoFit/>
          </a:bodyPr>
          <a:lstStyle/>
          <a:p>
            <a:pPr marL="285750" indent="-285750">
              <a:buFont typeface="Wingdings" panose="05000000000000000000" pitchFamily="2" charset="2"/>
              <a:buChar char="v"/>
            </a:pPr>
            <a:r>
              <a:rPr lang="en-US" dirty="0"/>
              <a:t>Problem difficulty follows a skewed, multi-modal distribution with most problems in the mid-difficulty range.</a:t>
            </a:r>
          </a:p>
          <a:p>
            <a:endParaRPr lang="en-US" dirty="0"/>
          </a:p>
          <a:p>
            <a:pPr marL="285750" indent="-285750">
              <a:buFont typeface="Wingdings" panose="05000000000000000000" pitchFamily="2" charset="2"/>
              <a:buChar char="v"/>
            </a:pPr>
            <a:r>
              <a:rPr lang="en-US" dirty="0"/>
              <a:t>Problem statements vary widely in length, but most fall within a moderate range.</a:t>
            </a:r>
          </a:p>
          <a:p>
            <a:endParaRPr lang="en-US" dirty="0"/>
          </a:p>
          <a:p>
            <a:pPr marL="285750" indent="-285750">
              <a:buFont typeface="Wingdings" panose="05000000000000000000" pitchFamily="2" charset="2"/>
              <a:buChar char="v"/>
            </a:pPr>
            <a:r>
              <a:rPr lang="en-US" dirty="0"/>
              <a:t>Time limit shows only a weak correlation with difficulty, indicating it is a supportive but insufficient feature.</a:t>
            </a:r>
          </a:p>
          <a:p>
            <a:pPr marL="285750" indent="-285750">
              <a:buFont typeface="Wingdings" panose="05000000000000000000" pitchFamily="2" charset="2"/>
              <a:buChar char="v"/>
            </a:pPr>
            <a:endParaRPr lang="en-US" dirty="0"/>
          </a:p>
          <a:p>
            <a:pPr marL="285750" indent="-285750">
              <a:buFont typeface="Wingdings" panose="05000000000000000000" pitchFamily="2" charset="2"/>
              <a:buChar char="v"/>
            </a:pPr>
            <a:r>
              <a:rPr lang="en-US" dirty="0"/>
              <a:t>Problem index is strongly correlated with difficulty, making it one of the most informative structured features.</a:t>
            </a:r>
          </a:p>
          <a:p>
            <a:endParaRPr lang="en-US" dirty="0"/>
          </a:p>
          <a:p>
            <a:pPr marL="285750" indent="-285750">
              <a:buFont typeface="Wingdings" panose="05000000000000000000" pitchFamily="2" charset="2"/>
              <a:buChar char="v"/>
            </a:pPr>
            <a:endParaRPr lang="en-US" dirty="0"/>
          </a:p>
        </p:txBody>
      </p:sp>
    </p:spTree>
    <p:extLst>
      <p:ext uri="{BB962C8B-B14F-4D97-AF65-F5344CB8AC3E}">
        <p14:creationId xmlns:p14="http://schemas.microsoft.com/office/powerpoint/2010/main" val="244441613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5D5E0904-721C-4D68-9EB8-1C9752E329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572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useBgFill="1">
        <p:nvSpPr>
          <p:cNvPr id="11" name="Rectangle 10">
            <a:extLst>
              <a:ext uri="{FF2B5EF4-FFF2-40B4-BE49-F238E27FC236}">
                <a16:creationId xmlns:a16="http://schemas.microsoft.com/office/drawing/2014/main" id="{D0CDF5D3-7220-42A0-9D37-ECF3BF283B3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7200" y="0"/>
            <a:ext cx="10835640" cy="51054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3" name="Rectangle 12">
            <a:extLst>
              <a:ext uri="{FF2B5EF4-FFF2-40B4-BE49-F238E27FC236}">
                <a16:creationId xmlns:a16="http://schemas.microsoft.com/office/drawing/2014/main" id="{64BC717F-58B3-4A4E-BC3B-1B11323AD5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7200" y="5105400"/>
            <a:ext cx="10835640" cy="1752600"/>
          </a:xfrm>
          <a:prstGeom prst="rect">
            <a:avLst/>
          </a:prstGeom>
          <a:solidFill>
            <a:srgbClr val="353537"/>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B27F0F34-045B-C58D-DE53-31E07B12BDF7}"/>
              </a:ext>
            </a:extLst>
          </p:cNvPr>
          <p:cNvSpPr>
            <a:spLocks noGrp="1"/>
          </p:cNvSpPr>
          <p:nvPr>
            <p:ph type="title"/>
          </p:nvPr>
        </p:nvSpPr>
        <p:spPr>
          <a:xfrm>
            <a:off x="944183" y="5181600"/>
            <a:ext cx="10156435" cy="1076324"/>
          </a:xfrm>
        </p:spPr>
        <p:txBody>
          <a:bodyPr vert="horz" lIns="91440" tIns="45720" rIns="91440" bIns="45720" rtlCol="0" anchor="b">
            <a:normAutofit/>
          </a:bodyPr>
          <a:lstStyle/>
          <a:p>
            <a:pPr>
              <a:lnSpc>
                <a:spcPct val="85000"/>
              </a:lnSpc>
            </a:pPr>
            <a:r>
              <a:rPr lang="en-US" sz="5400">
                <a:solidFill>
                  <a:srgbClr val="FFFFFF"/>
                </a:solidFill>
              </a:rPr>
              <a:t>Model(s)</a:t>
            </a:r>
          </a:p>
        </p:txBody>
      </p:sp>
      <p:sp>
        <p:nvSpPr>
          <p:cNvPr id="15" name="Rectangle 14">
            <a:extLst>
              <a:ext uri="{FF2B5EF4-FFF2-40B4-BE49-F238E27FC236}">
                <a16:creationId xmlns:a16="http://schemas.microsoft.com/office/drawing/2014/main" id="{1EE75710-64C5-4CA8-8A7C-82EE4125C9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57200" cy="6858000"/>
          </a:xfrm>
          <a:prstGeom prst="rect">
            <a:avLst/>
          </a:prstGeom>
          <a:solidFill>
            <a:srgbClr val="6F6F7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435050B1-74E1-4A81-923D-0F5971A3BC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92840" y="0"/>
            <a:ext cx="899160" cy="6858000"/>
          </a:xfrm>
          <a:prstGeom prst="rect">
            <a:avLst/>
          </a:prstGeom>
          <a:solidFill>
            <a:srgbClr val="35353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4" name="Content Placeholder 3">
            <a:extLst>
              <a:ext uri="{FF2B5EF4-FFF2-40B4-BE49-F238E27FC236}">
                <a16:creationId xmlns:a16="http://schemas.microsoft.com/office/drawing/2014/main" id="{76F67BBA-0A7B-8F4B-35A2-8923A3565FBF}"/>
              </a:ext>
            </a:extLst>
          </p:cNvPr>
          <p:cNvGraphicFramePr>
            <a:graphicFrameLocks noGrp="1"/>
          </p:cNvGraphicFramePr>
          <p:nvPr>
            <p:ph idx="1"/>
            <p:extLst>
              <p:ext uri="{D42A27DB-BD31-4B8C-83A1-F6EECF244321}">
                <p14:modId xmlns:p14="http://schemas.microsoft.com/office/powerpoint/2010/main" val="1892787644"/>
              </p:ext>
            </p:extLst>
          </p:nvPr>
        </p:nvGraphicFramePr>
        <p:xfrm>
          <a:off x="1558866" y="640081"/>
          <a:ext cx="8671555" cy="4006688"/>
        </p:xfrm>
        <a:graphic>
          <a:graphicData uri="http://schemas.openxmlformats.org/drawingml/2006/table">
            <a:tbl>
              <a:tblPr firstRow="1" bandRow="1"/>
              <a:tblGrid>
                <a:gridCol w="1914028">
                  <a:extLst>
                    <a:ext uri="{9D8B030D-6E8A-4147-A177-3AD203B41FA5}">
                      <a16:colId xmlns:a16="http://schemas.microsoft.com/office/drawing/2014/main" val="2889903576"/>
                    </a:ext>
                  </a:extLst>
                </a:gridCol>
                <a:gridCol w="1983844">
                  <a:extLst>
                    <a:ext uri="{9D8B030D-6E8A-4147-A177-3AD203B41FA5}">
                      <a16:colId xmlns:a16="http://schemas.microsoft.com/office/drawing/2014/main" val="2263204464"/>
                    </a:ext>
                  </a:extLst>
                </a:gridCol>
                <a:gridCol w="1062265">
                  <a:extLst>
                    <a:ext uri="{9D8B030D-6E8A-4147-A177-3AD203B41FA5}">
                      <a16:colId xmlns:a16="http://schemas.microsoft.com/office/drawing/2014/main" val="1417583575"/>
                    </a:ext>
                  </a:extLst>
                </a:gridCol>
                <a:gridCol w="1245784">
                  <a:extLst>
                    <a:ext uri="{9D8B030D-6E8A-4147-A177-3AD203B41FA5}">
                      <a16:colId xmlns:a16="http://schemas.microsoft.com/office/drawing/2014/main" val="296872842"/>
                    </a:ext>
                  </a:extLst>
                </a:gridCol>
                <a:gridCol w="779009">
                  <a:extLst>
                    <a:ext uri="{9D8B030D-6E8A-4147-A177-3AD203B41FA5}">
                      <a16:colId xmlns:a16="http://schemas.microsoft.com/office/drawing/2014/main" val="304573489"/>
                    </a:ext>
                  </a:extLst>
                </a:gridCol>
                <a:gridCol w="1686625">
                  <a:extLst>
                    <a:ext uri="{9D8B030D-6E8A-4147-A177-3AD203B41FA5}">
                      <a16:colId xmlns:a16="http://schemas.microsoft.com/office/drawing/2014/main" val="1915299930"/>
                    </a:ext>
                  </a:extLst>
                </a:gridCol>
              </a:tblGrid>
              <a:tr h="428484">
                <a:tc>
                  <a:txBody>
                    <a:bodyPr/>
                    <a:lstStyle/>
                    <a:p>
                      <a:pPr algn="ctr">
                        <a:buNone/>
                      </a:pPr>
                      <a:r>
                        <a:rPr lang="en-US" sz="2000">
                          <a:solidFill>
                            <a:schemeClr val="tx1"/>
                          </a:solidFill>
                        </a:rPr>
                        <a:t>Model</a:t>
                      </a:r>
                    </a:p>
                  </a:txBody>
                  <a:tcPr marL="76128" marR="76128" marT="38064" marB="3806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alpha val="50000"/>
                      </a:schemeClr>
                    </a:solidFill>
                  </a:tcPr>
                </a:tc>
                <a:tc>
                  <a:txBody>
                    <a:bodyPr/>
                    <a:lstStyle/>
                    <a:p>
                      <a:pPr algn="ctr">
                        <a:buNone/>
                      </a:pPr>
                      <a:r>
                        <a:rPr lang="en-US" sz="2000">
                          <a:solidFill>
                            <a:schemeClr val="tx1"/>
                          </a:solidFill>
                        </a:rPr>
                        <a:t>Features Used</a:t>
                      </a:r>
                    </a:p>
                  </a:txBody>
                  <a:tcPr marL="76128" marR="76128" marT="38064" marB="3806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alpha val="50000"/>
                      </a:schemeClr>
                    </a:solidFill>
                  </a:tcPr>
                </a:tc>
                <a:tc>
                  <a:txBody>
                    <a:bodyPr/>
                    <a:lstStyle/>
                    <a:p>
                      <a:pPr algn="ctr">
                        <a:buNone/>
                      </a:pPr>
                      <a:r>
                        <a:rPr lang="en-US" sz="2000">
                          <a:solidFill>
                            <a:schemeClr val="tx1"/>
                          </a:solidFill>
                        </a:rPr>
                        <a:t>MAE ↓</a:t>
                      </a:r>
                    </a:p>
                  </a:txBody>
                  <a:tcPr marL="76128" marR="76128" marT="38064" marB="3806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alpha val="50000"/>
                      </a:schemeClr>
                    </a:solidFill>
                  </a:tcPr>
                </a:tc>
                <a:tc>
                  <a:txBody>
                    <a:bodyPr/>
                    <a:lstStyle/>
                    <a:p>
                      <a:pPr algn="ctr">
                        <a:buNone/>
                      </a:pPr>
                      <a:r>
                        <a:rPr lang="en-US" sz="2000">
                          <a:solidFill>
                            <a:schemeClr val="tx1"/>
                          </a:solidFill>
                        </a:rPr>
                        <a:t>RMSE ↓</a:t>
                      </a:r>
                    </a:p>
                  </a:txBody>
                  <a:tcPr marL="76128" marR="76128" marT="38064" marB="3806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alpha val="50000"/>
                      </a:schemeClr>
                    </a:solidFill>
                  </a:tcPr>
                </a:tc>
                <a:tc>
                  <a:txBody>
                    <a:bodyPr/>
                    <a:lstStyle/>
                    <a:p>
                      <a:pPr algn="ctr">
                        <a:buNone/>
                      </a:pPr>
                      <a:r>
                        <a:rPr lang="en-US" sz="2000">
                          <a:solidFill>
                            <a:schemeClr val="tx1"/>
                          </a:solidFill>
                        </a:rPr>
                        <a:t>R² ↑</a:t>
                      </a:r>
                    </a:p>
                  </a:txBody>
                  <a:tcPr marL="76128" marR="76128" marT="38064" marB="3806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alpha val="50000"/>
                      </a:schemeClr>
                    </a:solidFill>
                  </a:tcPr>
                </a:tc>
                <a:tc>
                  <a:txBody>
                    <a:bodyPr/>
                    <a:lstStyle/>
                    <a:p>
                      <a:pPr algn="ctr">
                        <a:buNone/>
                      </a:pPr>
                      <a:r>
                        <a:rPr lang="en-US" sz="2000">
                          <a:solidFill>
                            <a:schemeClr val="tx1"/>
                          </a:solidFill>
                        </a:rPr>
                        <a:t>Spearman ↑</a:t>
                      </a:r>
                    </a:p>
                  </a:txBody>
                  <a:tcPr marL="76128" marR="76128" marT="38064" marB="3806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alpha val="50000"/>
                      </a:schemeClr>
                    </a:solidFill>
                  </a:tcPr>
                </a:tc>
                <a:extLst>
                  <a:ext uri="{0D108BD9-81ED-4DB2-BD59-A6C34878D82A}">
                    <a16:rowId xmlns:a16="http://schemas.microsoft.com/office/drawing/2014/main" val="1940865847"/>
                  </a:ext>
                </a:extLst>
              </a:tr>
              <a:tr h="351885">
                <a:tc>
                  <a:txBody>
                    <a:bodyPr/>
                    <a:lstStyle/>
                    <a:p>
                      <a:pPr>
                        <a:buNone/>
                      </a:pPr>
                      <a:r>
                        <a:rPr lang="en-US" sz="1500">
                          <a:solidFill>
                            <a:schemeClr val="tx1"/>
                          </a:solidFill>
                        </a:rPr>
                        <a:t>Linear Regression</a:t>
                      </a:r>
                    </a:p>
                  </a:txBody>
                  <a:tcPr marL="76128" marR="76128" marT="38064" marB="3806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alpha val="50000"/>
                      </a:schemeClr>
                    </a:solidFill>
                  </a:tcPr>
                </a:tc>
                <a:tc>
                  <a:txBody>
                    <a:bodyPr/>
                    <a:lstStyle/>
                    <a:p>
                      <a:pPr>
                        <a:buNone/>
                      </a:pPr>
                      <a:r>
                        <a:rPr lang="en-US" sz="1500">
                          <a:solidFill>
                            <a:schemeClr val="tx1"/>
                          </a:solidFill>
                        </a:rPr>
                        <a:t>Numeric only</a:t>
                      </a:r>
                    </a:p>
                  </a:txBody>
                  <a:tcPr marL="76128" marR="76128" marT="38064" marB="3806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alpha val="50000"/>
                      </a:schemeClr>
                    </a:solidFill>
                  </a:tcPr>
                </a:tc>
                <a:tc>
                  <a:txBody>
                    <a:bodyPr/>
                    <a:lstStyle/>
                    <a:p>
                      <a:pPr algn="ctr">
                        <a:buNone/>
                      </a:pPr>
                      <a:r>
                        <a:rPr lang="en-US" sz="1500">
                          <a:solidFill>
                            <a:schemeClr val="tx1"/>
                          </a:solidFill>
                        </a:rPr>
                        <a:t>443.8</a:t>
                      </a:r>
                    </a:p>
                  </a:txBody>
                  <a:tcPr marL="76128" marR="76128" marT="38064" marB="3806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alpha val="50000"/>
                      </a:schemeClr>
                    </a:solidFill>
                  </a:tcPr>
                </a:tc>
                <a:tc>
                  <a:txBody>
                    <a:bodyPr/>
                    <a:lstStyle/>
                    <a:p>
                      <a:pPr algn="ctr">
                        <a:buNone/>
                      </a:pPr>
                      <a:r>
                        <a:rPr lang="en-US" sz="1500">
                          <a:solidFill>
                            <a:schemeClr val="tx1"/>
                          </a:solidFill>
                        </a:rPr>
                        <a:t>605.5</a:t>
                      </a:r>
                    </a:p>
                  </a:txBody>
                  <a:tcPr marL="76128" marR="76128" marT="38064" marB="3806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alpha val="50000"/>
                      </a:schemeClr>
                    </a:solidFill>
                  </a:tcPr>
                </a:tc>
                <a:tc>
                  <a:txBody>
                    <a:bodyPr/>
                    <a:lstStyle/>
                    <a:p>
                      <a:pPr algn="ctr">
                        <a:buNone/>
                      </a:pPr>
                      <a:r>
                        <a:rPr lang="en-US" sz="1500">
                          <a:solidFill>
                            <a:schemeClr val="tx1"/>
                          </a:solidFill>
                        </a:rPr>
                        <a:t>0.26</a:t>
                      </a:r>
                    </a:p>
                  </a:txBody>
                  <a:tcPr marL="76128" marR="76128" marT="38064" marB="3806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alpha val="50000"/>
                      </a:schemeClr>
                    </a:solidFill>
                  </a:tcPr>
                </a:tc>
                <a:tc>
                  <a:txBody>
                    <a:bodyPr/>
                    <a:lstStyle/>
                    <a:p>
                      <a:pPr algn="ctr">
                        <a:buNone/>
                      </a:pPr>
                      <a:r>
                        <a:rPr lang="en-US" sz="1500">
                          <a:solidFill>
                            <a:schemeClr val="tx1"/>
                          </a:solidFill>
                        </a:rPr>
                        <a:t>0.715</a:t>
                      </a:r>
                    </a:p>
                  </a:txBody>
                  <a:tcPr marL="76128" marR="76128" marT="38064" marB="3806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alpha val="50000"/>
                      </a:schemeClr>
                    </a:solidFill>
                  </a:tcPr>
                </a:tc>
                <a:extLst>
                  <a:ext uri="{0D108BD9-81ED-4DB2-BD59-A6C34878D82A}">
                    <a16:rowId xmlns:a16="http://schemas.microsoft.com/office/drawing/2014/main" val="1057832383"/>
                  </a:ext>
                </a:extLst>
              </a:tr>
              <a:tr h="351885">
                <a:tc>
                  <a:txBody>
                    <a:bodyPr/>
                    <a:lstStyle/>
                    <a:p>
                      <a:pPr>
                        <a:buNone/>
                      </a:pPr>
                      <a:r>
                        <a:rPr lang="en-US" sz="1500">
                          <a:solidFill>
                            <a:schemeClr val="tx1"/>
                          </a:solidFill>
                        </a:rPr>
                        <a:t>Ridge Regression</a:t>
                      </a:r>
                    </a:p>
                  </a:txBody>
                  <a:tcPr marL="76128" marR="76128" marT="38064" marB="3806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alpha val="50000"/>
                      </a:schemeClr>
                    </a:solidFill>
                  </a:tcPr>
                </a:tc>
                <a:tc>
                  <a:txBody>
                    <a:bodyPr/>
                    <a:lstStyle/>
                    <a:p>
                      <a:pPr>
                        <a:buNone/>
                      </a:pPr>
                      <a:r>
                        <a:rPr lang="en-US" sz="1500">
                          <a:solidFill>
                            <a:schemeClr val="tx1"/>
                          </a:solidFill>
                        </a:rPr>
                        <a:t>Numeric only</a:t>
                      </a:r>
                    </a:p>
                  </a:txBody>
                  <a:tcPr marL="76128" marR="76128" marT="38064" marB="3806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alpha val="50000"/>
                      </a:schemeClr>
                    </a:solidFill>
                  </a:tcPr>
                </a:tc>
                <a:tc>
                  <a:txBody>
                    <a:bodyPr/>
                    <a:lstStyle/>
                    <a:p>
                      <a:pPr algn="ctr">
                        <a:buNone/>
                      </a:pPr>
                      <a:r>
                        <a:rPr lang="en-US" sz="1500">
                          <a:solidFill>
                            <a:schemeClr val="tx1"/>
                          </a:solidFill>
                        </a:rPr>
                        <a:t>443.8</a:t>
                      </a:r>
                    </a:p>
                  </a:txBody>
                  <a:tcPr marL="76128" marR="76128" marT="38064" marB="3806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alpha val="50000"/>
                      </a:schemeClr>
                    </a:solidFill>
                  </a:tcPr>
                </a:tc>
                <a:tc>
                  <a:txBody>
                    <a:bodyPr/>
                    <a:lstStyle/>
                    <a:p>
                      <a:pPr algn="ctr">
                        <a:buNone/>
                      </a:pPr>
                      <a:r>
                        <a:rPr lang="en-US" sz="1500">
                          <a:solidFill>
                            <a:schemeClr val="tx1"/>
                          </a:solidFill>
                        </a:rPr>
                        <a:t>605.5</a:t>
                      </a:r>
                    </a:p>
                  </a:txBody>
                  <a:tcPr marL="76128" marR="76128" marT="38064" marB="3806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alpha val="50000"/>
                      </a:schemeClr>
                    </a:solidFill>
                  </a:tcPr>
                </a:tc>
                <a:tc>
                  <a:txBody>
                    <a:bodyPr/>
                    <a:lstStyle/>
                    <a:p>
                      <a:pPr algn="ctr">
                        <a:buNone/>
                      </a:pPr>
                      <a:r>
                        <a:rPr lang="en-US" sz="1500">
                          <a:solidFill>
                            <a:schemeClr val="tx1"/>
                          </a:solidFill>
                        </a:rPr>
                        <a:t>0.26</a:t>
                      </a:r>
                    </a:p>
                  </a:txBody>
                  <a:tcPr marL="76128" marR="76128" marT="38064" marB="3806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alpha val="50000"/>
                      </a:schemeClr>
                    </a:solidFill>
                  </a:tcPr>
                </a:tc>
                <a:tc>
                  <a:txBody>
                    <a:bodyPr/>
                    <a:lstStyle/>
                    <a:p>
                      <a:pPr algn="ctr">
                        <a:buNone/>
                      </a:pPr>
                      <a:r>
                        <a:rPr lang="en-US" sz="1500">
                          <a:solidFill>
                            <a:schemeClr val="tx1"/>
                          </a:solidFill>
                        </a:rPr>
                        <a:t>0.715</a:t>
                      </a:r>
                    </a:p>
                  </a:txBody>
                  <a:tcPr marL="76128" marR="76128" marT="38064" marB="3806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alpha val="50000"/>
                      </a:schemeClr>
                    </a:solidFill>
                  </a:tcPr>
                </a:tc>
                <a:extLst>
                  <a:ext uri="{0D108BD9-81ED-4DB2-BD59-A6C34878D82A}">
                    <a16:rowId xmlns:a16="http://schemas.microsoft.com/office/drawing/2014/main" val="1261461426"/>
                  </a:ext>
                </a:extLst>
              </a:tr>
              <a:tr h="351885">
                <a:tc>
                  <a:txBody>
                    <a:bodyPr/>
                    <a:lstStyle/>
                    <a:p>
                      <a:pPr>
                        <a:buNone/>
                      </a:pPr>
                      <a:r>
                        <a:rPr lang="en-US" sz="1500">
                          <a:solidFill>
                            <a:schemeClr val="tx1"/>
                          </a:solidFill>
                        </a:rPr>
                        <a:t>Random Forest</a:t>
                      </a:r>
                    </a:p>
                  </a:txBody>
                  <a:tcPr marL="76128" marR="76128" marT="38064" marB="3806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alpha val="50000"/>
                      </a:schemeClr>
                    </a:solidFill>
                  </a:tcPr>
                </a:tc>
                <a:tc>
                  <a:txBody>
                    <a:bodyPr/>
                    <a:lstStyle/>
                    <a:p>
                      <a:pPr>
                        <a:buNone/>
                      </a:pPr>
                      <a:r>
                        <a:rPr lang="en-US" sz="1500">
                          <a:solidFill>
                            <a:schemeClr val="tx1"/>
                          </a:solidFill>
                        </a:rPr>
                        <a:t>Numeric only</a:t>
                      </a:r>
                    </a:p>
                  </a:txBody>
                  <a:tcPr marL="76128" marR="76128" marT="38064" marB="3806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alpha val="50000"/>
                      </a:schemeClr>
                    </a:solidFill>
                  </a:tcPr>
                </a:tc>
                <a:tc>
                  <a:txBody>
                    <a:bodyPr/>
                    <a:lstStyle/>
                    <a:p>
                      <a:pPr algn="ctr">
                        <a:buNone/>
                      </a:pPr>
                      <a:r>
                        <a:rPr lang="en-US" sz="1500">
                          <a:solidFill>
                            <a:schemeClr val="tx1"/>
                          </a:solidFill>
                        </a:rPr>
                        <a:t>311.1</a:t>
                      </a:r>
                    </a:p>
                  </a:txBody>
                  <a:tcPr marL="76128" marR="76128" marT="38064" marB="3806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alpha val="50000"/>
                      </a:schemeClr>
                    </a:solidFill>
                  </a:tcPr>
                </a:tc>
                <a:tc>
                  <a:txBody>
                    <a:bodyPr/>
                    <a:lstStyle/>
                    <a:p>
                      <a:pPr algn="ctr">
                        <a:buNone/>
                      </a:pPr>
                      <a:r>
                        <a:rPr lang="en-US" sz="1500">
                          <a:solidFill>
                            <a:schemeClr val="tx1"/>
                          </a:solidFill>
                        </a:rPr>
                        <a:t>401.1</a:t>
                      </a:r>
                    </a:p>
                  </a:txBody>
                  <a:tcPr marL="76128" marR="76128" marT="38064" marB="3806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alpha val="50000"/>
                      </a:schemeClr>
                    </a:solidFill>
                  </a:tcPr>
                </a:tc>
                <a:tc>
                  <a:txBody>
                    <a:bodyPr/>
                    <a:lstStyle/>
                    <a:p>
                      <a:pPr algn="ctr">
                        <a:buNone/>
                      </a:pPr>
                      <a:r>
                        <a:rPr lang="en-US" sz="1500">
                          <a:solidFill>
                            <a:schemeClr val="tx1"/>
                          </a:solidFill>
                        </a:rPr>
                        <a:t>0.68</a:t>
                      </a:r>
                    </a:p>
                  </a:txBody>
                  <a:tcPr marL="76128" marR="76128" marT="38064" marB="3806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alpha val="50000"/>
                      </a:schemeClr>
                    </a:solidFill>
                  </a:tcPr>
                </a:tc>
                <a:tc>
                  <a:txBody>
                    <a:bodyPr/>
                    <a:lstStyle/>
                    <a:p>
                      <a:pPr algn="ctr">
                        <a:buNone/>
                      </a:pPr>
                      <a:r>
                        <a:rPr lang="en-US" sz="1500">
                          <a:solidFill>
                            <a:schemeClr val="tx1"/>
                          </a:solidFill>
                        </a:rPr>
                        <a:t>0.827</a:t>
                      </a:r>
                    </a:p>
                  </a:txBody>
                  <a:tcPr marL="76128" marR="76128" marT="38064" marB="3806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alpha val="50000"/>
                      </a:schemeClr>
                    </a:solidFill>
                  </a:tcPr>
                </a:tc>
                <a:extLst>
                  <a:ext uri="{0D108BD9-81ED-4DB2-BD59-A6C34878D82A}">
                    <a16:rowId xmlns:a16="http://schemas.microsoft.com/office/drawing/2014/main" val="2622799863"/>
                  </a:ext>
                </a:extLst>
              </a:tr>
              <a:tr h="351885">
                <a:tc>
                  <a:txBody>
                    <a:bodyPr/>
                    <a:lstStyle/>
                    <a:p>
                      <a:pPr>
                        <a:buNone/>
                      </a:pPr>
                      <a:r>
                        <a:rPr lang="en-US" sz="1500" dirty="0">
                          <a:solidFill>
                            <a:schemeClr val="tx1"/>
                          </a:solidFill>
                        </a:rPr>
                        <a:t>XGBoost</a:t>
                      </a:r>
                    </a:p>
                  </a:txBody>
                  <a:tcPr marL="76128" marR="76128" marT="38064" marB="3806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alpha val="50000"/>
                      </a:schemeClr>
                    </a:solidFill>
                  </a:tcPr>
                </a:tc>
                <a:tc>
                  <a:txBody>
                    <a:bodyPr/>
                    <a:lstStyle/>
                    <a:p>
                      <a:pPr>
                        <a:buNone/>
                      </a:pPr>
                      <a:r>
                        <a:rPr lang="en-US" sz="1500">
                          <a:solidFill>
                            <a:schemeClr val="tx1"/>
                          </a:solidFill>
                        </a:rPr>
                        <a:t>Numeric only</a:t>
                      </a:r>
                    </a:p>
                  </a:txBody>
                  <a:tcPr marL="76128" marR="76128" marT="38064" marB="3806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alpha val="50000"/>
                      </a:schemeClr>
                    </a:solidFill>
                  </a:tcPr>
                </a:tc>
                <a:tc>
                  <a:txBody>
                    <a:bodyPr/>
                    <a:lstStyle/>
                    <a:p>
                      <a:pPr algn="ctr">
                        <a:buNone/>
                      </a:pPr>
                      <a:r>
                        <a:rPr lang="en-US" sz="1500">
                          <a:solidFill>
                            <a:schemeClr val="tx1"/>
                          </a:solidFill>
                        </a:rPr>
                        <a:t>272.9</a:t>
                      </a:r>
                    </a:p>
                  </a:txBody>
                  <a:tcPr marL="76128" marR="76128" marT="38064" marB="3806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alpha val="50000"/>
                      </a:schemeClr>
                    </a:solidFill>
                  </a:tcPr>
                </a:tc>
                <a:tc>
                  <a:txBody>
                    <a:bodyPr/>
                    <a:lstStyle/>
                    <a:p>
                      <a:pPr algn="ctr">
                        <a:buNone/>
                      </a:pPr>
                      <a:r>
                        <a:rPr lang="en-US" sz="1500">
                          <a:solidFill>
                            <a:schemeClr val="tx1"/>
                          </a:solidFill>
                        </a:rPr>
                        <a:t>359.3</a:t>
                      </a:r>
                    </a:p>
                  </a:txBody>
                  <a:tcPr marL="76128" marR="76128" marT="38064" marB="3806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alpha val="50000"/>
                      </a:schemeClr>
                    </a:solidFill>
                  </a:tcPr>
                </a:tc>
                <a:tc>
                  <a:txBody>
                    <a:bodyPr/>
                    <a:lstStyle/>
                    <a:p>
                      <a:pPr algn="ctr">
                        <a:buNone/>
                      </a:pPr>
                      <a:r>
                        <a:rPr lang="en-US" sz="1500">
                          <a:solidFill>
                            <a:schemeClr val="tx1"/>
                          </a:solidFill>
                        </a:rPr>
                        <a:t>0.74</a:t>
                      </a:r>
                    </a:p>
                  </a:txBody>
                  <a:tcPr marL="76128" marR="76128" marT="38064" marB="3806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alpha val="50000"/>
                      </a:schemeClr>
                    </a:solidFill>
                  </a:tcPr>
                </a:tc>
                <a:tc>
                  <a:txBody>
                    <a:bodyPr/>
                    <a:lstStyle/>
                    <a:p>
                      <a:pPr algn="ctr">
                        <a:buNone/>
                      </a:pPr>
                      <a:r>
                        <a:rPr lang="en-US" sz="1500">
                          <a:solidFill>
                            <a:schemeClr val="tx1"/>
                          </a:solidFill>
                        </a:rPr>
                        <a:t>0.864</a:t>
                      </a:r>
                    </a:p>
                  </a:txBody>
                  <a:tcPr marL="76128" marR="76128" marT="38064" marB="3806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alpha val="50000"/>
                      </a:schemeClr>
                    </a:solidFill>
                  </a:tcPr>
                </a:tc>
                <a:extLst>
                  <a:ext uri="{0D108BD9-81ED-4DB2-BD59-A6C34878D82A}">
                    <a16:rowId xmlns:a16="http://schemas.microsoft.com/office/drawing/2014/main" val="759969483"/>
                  </a:ext>
                </a:extLst>
              </a:tr>
              <a:tr h="351885">
                <a:tc>
                  <a:txBody>
                    <a:bodyPr/>
                    <a:lstStyle/>
                    <a:p>
                      <a:pPr>
                        <a:buNone/>
                      </a:pPr>
                      <a:r>
                        <a:rPr lang="en-US" sz="1500" dirty="0">
                          <a:solidFill>
                            <a:schemeClr val="tx1"/>
                          </a:solidFill>
                        </a:rPr>
                        <a:t>CatBoost</a:t>
                      </a:r>
                    </a:p>
                  </a:txBody>
                  <a:tcPr marL="76128" marR="76128" marT="38064" marB="3806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alpha val="50000"/>
                      </a:schemeClr>
                    </a:solidFill>
                  </a:tcPr>
                </a:tc>
                <a:tc>
                  <a:txBody>
                    <a:bodyPr/>
                    <a:lstStyle/>
                    <a:p>
                      <a:pPr>
                        <a:buNone/>
                      </a:pPr>
                      <a:r>
                        <a:rPr lang="en-US" sz="1500">
                          <a:solidFill>
                            <a:schemeClr val="tx1"/>
                          </a:solidFill>
                        </a:rPr>
                        <a:t>Numeric only</a:t>
                      </a:r>
                    </a:p>
                  </a:txBody>
                  <a:tcPr marL="76128" marR="76128" marT="38064" marB="3806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alpha val="50000"/>
                      </a:schemeClr>
                    </a:solidFill>
                  </a:tcPr>
                </a:tc>
                <a:tc>
                  <a:txBody>
                    <a:bodyPr/>
                    <a:lstStyle/>
                    <a:p>
                      <a:pPr algn="ctr">
                        <a:buNone/>
                      </a:pPr>
                      <a:r>
                        <a:rPr lang="en-US" sz="1500">
                          <a:solidFill>
                            <a:schemeClr val="tx1"/>
                          </a:solidFill>
                        </a:rPr>
                        <a:t>274.9</a:t>
                      </a:r>
                    </a:p>
                  </a:txBody>
                  <a:tcPr marL="76128" marR="76128" marT="38064" marB="3806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alpha val="50000"/>
                      </a:schemeClr>
                    </a:solidFill>
                  </a:tcPr>
                </a:tc>
                <a:tc>
                  <a:txBody>
                    <a:bodyPr/>
                    <a:lstStyle/>
                    <a:p>
                      <a:pPr algn="ctr">
                        <a:buNone/>
                      </a:pPr>
                      <a:r>
                        <a:rPr lang="en-US" sz="1500">
                          <a:solidFill>
                            <a:schemeClr val="tx1"/>
                          </a:solidFill>
                        </a:rPr>
                        <a:t>353.8</a:t>
                      </a:r>
                    </a:p>
                  </a:txBody>
                  <a:tcPr marL="76128" marR="76128" marT="38064" marB="3806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alpha val="50000"/>
                      </a:schemeClr>
                    </a:solidFill>
                  </a:tcPr>
                </a:tc>
                <a:tc>
                  <a:txBody>
                    <a:bodyPr/>
                    <a:lstStyle/>
                    <a:p>
                      <a:pPr algn="ctr">
                        <a:buNone/>
                      </a:pPr>
                      <a:r>
                        <a:rPr lang="en-US" sz="1500">
                          <a:solidFill>
                            <a:schemeClr val="tx1"/>
                          </a:solidFill>
                        </a:rPr>
                        <a:t>0.75</a:t>
                      </a:r>
                    </a:p>
                  </a:txBody>
                  <a:tcPr marL="76128" marR="76128" marT="38064" marB="3806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alpha val="50000"/>
                      </a:schemeClr>
                    </a:solidFill>
                  </a:tcPr>
                </a:tc>
                <a:tc>
                  <a:txBody>
                    <a:bodyPr/>
                    <a:lstStyle/>
                    <a:p>
                      <a:pPr algn="ctr">
                        <a:buNone/>
                      </a:pPr>
                      <a:r>
                        <a:rPr lang="en-US" sz="1500">
                          <a:solidFill>
                            <a:schemeClr val="tx1"/>
                          </a:solidFill>
                        </a:rPr>
                        <a:t>0.869</a:t>
                      </a:r>
                    </a:p>
                  </a:txBody>
                  <a:tcPr marL="76128" marR="76128" marT="38064" marB="3806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alpha val="50000"/>
                      </a:schemeClr>
                    </a:solidFill>
                  </a:tcPr>
                </a:tc>
                <a:extLst>
                  <a:ext uri="{0D108BD9-81ED-4DB2-BD59-A6C34878D82A}">
                    <a16:rowId xmlns:a16="http://schemas.microsoft.com/office/drawing/2014/main" val="173242188"/>
                  </a:ext>
                </a:extLst>
              </a:tr>
              <a:tr h="351885">
                <a:tc>
                  <a:txBody>
                    <a:bodyPr/>
                    <a:lstStyle/>
                    <a:p>
                      <a:pPr>
                        <a:buNone/>
                      </a:pPr>
                      <a:r>
                        <a:rPr lang="en-US" sz="1500" dirty="0">
                          <a:solidFill>
                            <a:schemeClr val="tx1"/>
                          </a:solidFill>
                        </a:rPr>
                        <a:t>LinearSVR</a:t>
                      </a:r>
                    </a:p>
                  </a:txBody>
                  <a:tcPr marL="76128" marR="76128" marT="38064" marB="3806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alpha val="50000"/>
                      </a:schemeClr>
                    </a:solidFill>
                  </a:tcPr>
                </a:tc>
                <a:tc>
                  <a:txBody>
                    <a:bodyPr/>
                    <a:lstStyle/>
                    <a:p>
                      <a:pPr>
                        <a:buNone/>
                      </a:pPr>
                      <a:r>
                        <a:rPr lang="en-US" sz="1500">
                          <a:solidFill>
                            <a:schemeClr val="tx1"/>
                          </a:solidFill>
                        </a:rPr>
                        <a:t>TF-IDF + Numeric</a:t>
                      </a:r>
                    </a:p>
                  </a:txBody>
                  <a:tcPr marL="76128" marR="76128" marT="38064" marB="3806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alpha val="50000"/>
                      </a:schemeClr>
                    </a:solidFill>
                  </a:tcPr>
                </a:tc>
                <a:tc>
                  <a:txBody>
                    <a:bodyPr/>
                    <a:lstStyle/>
                    <a:p>
                      <a:pPr algn="ctr">
                        <a:buNone/>
                      </a:pPr>
                      <a:r>
                        <a:rPr lang="en-US" sz="1500">
                          <a:solidFill>
                            <a:schemeClr val="tx1"/>
                          </a:solidFill>
                        </a:rPr>
                        <a:t>423.1</a:t>
                      </a:r>
                    </a:p>
                  </a:txBody>
                  <a:tcPr marL="76128" marR="76128" marT="38064" marB="3806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alpha val="50000"/>
                      </a:schemeClr>
                    </a:solidFill>
                  </a:tcPr>
                </a:tc>
                <a:tc>
                  <a:txBody>
                    <a:bodyPr/>
                    <a:lstStyle/>
                    <a:p>
                      <a:pPr algn="ctr">
                        <a:buNone/>
                      </a:pPr>
                      <a:r>
                        <a:rPr lang="en-US" sz="1500">
                          <a:solidFill>
                            <a:schemeClr val="tx1"/>
                          </a:solidFill>
                        </a:rPr>
                        <a:t>769.8</a:t>
                      </a:r>
                    </a:p>
                  </a:txBody>
                  <a:tcPr marL="76128" marR="76128" marT="38064" marB="3806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alpha val="50000"/>
                      </a:schemeClr>
                    </a:solidFill>
                  </a:tcPr>
                </a:tc>
                <a:tc>
                  <a:txBody>
                    <a:bodyPr/>
                    <a:lstStyle/>
                    <a:p>
                      <a:pPr algn="ctr">
                        <a:buNone/>
                      </a:pPr>
                      <a:r>
                        <a:rPr lang="en-US" sz="1500">
                          <a:solidFill>
                            <a:schemeClr val="tx1"/>
                          </a:solidFill>
                        </a:rPr>
                        <a:t>−0.41</a:t>
                      </a:r>
                    </a:p>
                  </a:txBody>
                  <a:tcPr marL="76128" marR="76128" marT="38064" marB="3806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alpha val="50000"/>
                      </a:schemeClr>
                    </a:solidFill>
                  </a:tcPr>
                </a:tc>
                <a:tc>
                  <a:txBody>
                    <a:bodyPr/>
                    <a:lstStyle/>
                    <a:p>
                      <a:pPr algn="ctr">
                        <a:buNone/>
                      </a:pPr>
                      <a:r>
                        <a:rPr lang="en-US" sz="1500">
                          <a:solidFill>
                            <a:schemeClr val="tx1"/>
                          </a:solidFill>
                        </a:rPr>
                        <a:t>0.788</a:t>
                      </a:r>
                    </a:p>
                  </a:txBody>
                  <a:tcPr marL="76128" marR="76128" marT="38064" marB="3806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alpha val="50000"/>
                      </a:schemeClr>
                    </a:solidFill>
                  </a:tcPr>
                </a:tc>
                <a:extLst>
                  <a:ext uri="{0D108BD9-81ED-4DB2-BD59-A6C34878D82A}">
                    <a16:rowId xmlns:a16="http://schemas.microsoft.com/office/drawing/2014/main" val="196693738"/>
                  </a:ext>
                </a:extLst>
              </a:tr>
              <a:tr h="351885">
                <a:tc>
                  <a:txBody>
                    <a:bodyPr/>
                    <a:lstStyle/>
                    <a:p>
                      <a:pPr>
                        <a:buNone/>
                      </a:pPr>
                      <a:r>
                        <a:rPr lang="en-US" sz="1500">
                          <a:solidFill>
                            <a:schemeClr val="tx1"/>
                          </a:solidFill>
                        </a:rPr>
                        <a:t>Ridge Regression</a:t>
                      </a:r>
                    </a:p>
                  </a:txBody>
                  <a:tcPr marL="76128" marR="76128" marT="38064" marB="3806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alpha val="50000"/>
                      </a:schemeClr>
                    </a:solidFill>
                  </a:tcPr>
                </a:tc>
                <a:tc>
                  <a:txBody>
                    <a:bodyPr/>
                    <a:lstStyle/>
                    <a:p>
                      <a:pPr>
                        <a:buNone/>
                      </a:pPr>
                      <a:r>
                        <a:rPr lang="en-US" sz="1500">
                          <a:solidFill>
                            <a:schemeClr val="tx1"/>
                          </a:solidFill>
                        </a:rPr>
                        <a:t>TF-IDF + Numeric</a:t>
                      </a:r>
                    </a:p>
                  </a:txBody>
                  <a:tcPr marL="76128" marR="76128" marT="38064" marB="3806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alpha val="50000"/>
                      </a:schemeClr>
                    </a:solidFill>
                  </a:tcPr>
                </a:tc>
                <a:tc>
                  <a:txBody>
                    <a:bodyPr/>
                    <a:lstStyle/>
                    <a:p>
                      <a:pPr algn="ctr">
                        <a:buNone/>
                      </a:pPr>
                      <a:r>
                        <a:rPr lang="en-US" sz="1500">
                          <a:solidFill>
                            <a:schemeClr val="tx1"/>
                          </a:solidFill>
                        </a:rPr>
                        <a:t>382.4</a:t>
                      </a:r>
                    </a:p>
                  </a:txBody>
                  <a:tcPr marL="76128" marR="76128" marT="38064" marB="3806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alpha val="50000"/>
                      </a:schemeClr>
                    </a:solidFill>
                  </a:tcPr>
                </a:tc>
                <a:tc>
                  <a:txBody>
                    <a:bodyPr/>
                    <a:lstStyle/>
                    <a:p>
                      <a:pPr algn="ctr">
                        <a:buNone/>
                      </a:pPr>
                      <a:r>
                        <a:rPr lang="en-US" sz="1500">
                          <a:solidFill>
                            <a:schemeClr val="tx1"/>
                          </a:solidFill>
                        </a:rPr>
                        <a:t>498.0</a:t>
                      </a:r>
                    </a:p>
                  </a:txBody>
                  <a:tcPr marL="76128" marR="76128" marT="38064" marB="3806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alpha val="50000"/>
                      </a:schemeClr>
                    </a:solidFill>
                  </a:tcPr>
                </a:tc>
                <a:tc>
                  <a:txBody>
                    <a:bodyPr/>
                    <a:lstStyle/>
                    <a:p>
                      <a:pPr algn="ctr">
                        <a:buNone/>
                      </a:pPr>
                      <a:r>
                        <a:rPr lang="en-US" sz="1500">
                          <a:solidFill>
                            <a:schemeClr val="tx1"/>
                          </a:solidFill>
                        </a:rPr>
                        <a:t>0.48</a:t>
                      </a:r>
                    </a:p>
                  </a:txBody>
                  <a:tcPr marL="76128" marR="76128" marT="38064" marB="3806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alpha val="50000"/>
                      </a:schemeClr>
                    </a:solidFill>
                  </a:tcPr>
                </a:tc>
                <a:tc>
                  <a:txBody>
                    <a:bodyPr/>
                    <a:lstStyle/>
                    <a:p>
                      <a:pPr algn="ctr">
                        <a:buNone/>
                      </a:pPr>
                      <a:r>
                        <a:rPr lang="en-US" sz="1500">
                          <a:solidFill>
                            <a:schemeClr val="tx1"/>
                          </a:solidFill>
                        </a:rPr>
                        <a:t>0.742</a:t>
                      </a:r>
                    </a:p>
                  </a:txBody>
                  <a:tcPr marL="76128" marR="76128" marT="38064" marB="3806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alpha val="50000"/>
                      </a:schemeClr>
                    </a:solidFill>
                  </a:tcPr>
                </a:tc>
                <a:extLst>
                  <a:ext uri="{0D108BD9-81ED-4DB2-BD59-A6C34878D82A}">
                    <a16:rowId xmlns:a16="http://schemas.microsoft.com/office/drawing/2014/main" val="287545348"/>
                  </a:ext>
                </a:extLst>
              </a:tr>
              <a:tr h="351885">
                <a:tc>
                  <a:txBody>
                    <a:bodyPr/>
                    <a:lstStyle/>
                    <a:p>
                      <a:pPr>
                        <a:buNone/>
                      </a:pPr>
                      <a:r>
                        <a:rPr lang="en-US" sz="1500" b="1">
                          <a:solidFill>
                            <a:schemeClr val="tx1"/>
                          </a:solidFill>
                        </a:rPr>
                        <a:t>LightGBM (tuned)</a:t>
                      </a:r>
                      <a:endParaRPr lang="en-US" sz="1500">
                        <a:solidFill>
                          <a:schemeClr val="tx1"/>
                        </a:solidFill>
                      </a:endParaRPr>
                    </a:p>
                  </a:txBody>
                  <a:tcPr marL="76128" marR="76128" marT="38064" marB="3806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alpha val="50000"/>
                      </a:schemeClr>
                    </a:solidFill>
                  </a:tcPr>
                </a:tc>
                <a:tc>
                  <a:txBody>
                    <a:bodyPr/>
                    <a:lstStyle/>
                    <a:p>
                      <a:pPr>
                        <a:buNone/>
                      </a:pPr>
                      <a:r>
                        <a:rPr lang="en-US" sz="1500" b="1">
                          <a:solidFill>
                            <a:schemeClr val="tx1"/>
                          </a:solidFill>
                        </a:rPr>
                        <a:t>TF-IDF + Numeric</a:t>
                      </a:r>
                      <a:endParaRPr lang="en-US" sz="1500">
                        <a:solidFill>
                          <a:schemeClr val="tx1"/>
                        </a:solidFill>
                      </a:endParaRPr>
                    </a:p>
                  </a:txBody>
                  <a:tcPr marL="76128" marR="76128" marT="38064" marB="3806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alpha val="50000"/>
                      </a:schemeClr>
                    </a:solidFill>
                  </a:tcPr>
                </a:tc>
                <a:tc>
                  <a:txBody>
                    <a:bodyPr/>
                    <a:lstStyle/>
                    <a:p>
                      <a:pPr algn="ctr">
                        <a:buNone/>
                      </a:pPr>
                      <a:r>
                        <a:rPr lang="en-US" sz="1500" b="1">
                          <a:solidFill>
                            <a:schemeClr val="tx1"/>
                          </a:solidFill>
                        </a:rPr>
                        <a:t>281.2</a:t>
                      </a:r>
                      <a:endParaRPr lang="en-US" sz="1500">
                        <a:solidFill>
                          <a:schemeClr val="tx1"/>
                        </a:solidFill>
                      </a:endParaRPr>
                    </a:p>
                  </a:txBody>
                  <a:tcPr marL="76128" marR="76128" marT="38064" marB="3806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alpha val="50000"/>
                      </a:schemeClr>
                    </a:solidFill>
                  </a:tcPr>
                </a:tc>
                <a:tc>
                  <a:txBody>
                    <a:bodyPr/>
                    <a:lstStyle/>
                    <a:p>
                      <a:pPr algn="ctr">
                        <a:buNone/>
                      </a:pPr>
                      <a:r>
                        <a:rPr lang="en-US" sz="1500" b="1">
                          <a:solidFill>
                            <a:schemeClr val="tx1"/>
                          </a:solidFill>
                        </a:rPr>
                        <a:t>360.4</a:t>
                      </a:r>
                      <a:endParaRPr lang="en-US" sz="1500">
                        <a:solidFill>
                          <a:schemeClr val="tx1"/>
                        </a:solidFill>
                      </a:endParaRPr>
                    </a:p>
                  </a:txBody>
                  <a:tcPr marL="76128" marR="76128" marT="38064" marB="3806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alpha val="50000"/>
                      </a:schemeClr>
                    </a:solidFill>
                  </a:tcPr>
                </a:tc>
                <a:tc>
                  <a:txBody>
                    <a:bodyPr/>
                    <a:lstStyle/>
                    <a:p>
                      <a:pPr algn="ctr">
                        <a:buNone/>
                      </a:pPr>
                      <a:r>
                        <a:rPr lang="en-US" sz="1500" b="1">
                          <a:solidFill>
                            <a:schemeClr val="tx1"/>
                          </a:solidFill>
                        </a:rPr>
                        <a:t>0.73</a:t>
                      </a:r>
                      <a:endParaRPr lang="en-US" sz="1500">
                        <a:solidFill>
                          <a:schemeClr val="tx1"/>
                        </a:solidFill>
                      </a:endParaRPr>
                    </a:p>
                  </a:txBody>
                  <a:tcPr marL="76128" marR="76128" marT="38064" marB="3806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alpha val="50000"/>
                      </a:schemeClr>
                    </a:solidFill>
                  </a:tcPr>
                </a:tc>
                <a:tc>
                  <a:txBody>
                    <a:bodyPr/>
                    <a:lstStyle/>
                    <a:p>
                      <a:pPr algn="ctr">
                        <a:buNone/>
                      </a:pPr>
                      <a:r>
                        <a:rPr lang="en-US" sz="1500" b="1">
                          <a:solidFill>
                            <a:schemeClr val="tx1"/>
                          </a:solidFill>
                        </a:rPr>
                        <a:t>0.859</a:t>
                      </a:r>
                      <a:endParaRPr lang="en-US" sz="1500">
                        <a:solidFill>
                          <a:schemeClr val="tx1"/>
                        </a:solidFill>
                      </a:endParaRPr>
                    </a:p>
                  </a:txBody>
                  <a:tcPr marL="76128" marR="76128" marT="38064" marB="3806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alpha val="50000"/>
                      </a:schemeClr>
                    </a:solidFill>
                  </a:tcPr>
                </a:tc>
                <a:extLst>
                  <a:ext uri="{0D108BD9-81ED-4DB2-BD59-A6C34878D82A}">
                    <a16:rowId xmlns:a16="http://schemas.microsoft.com/office/drawing/2014/main" val="261826280"/>
                  </a:ext>
                </a:extLst>
              </a:tr>
              <a:tr h="581681">
                <a:tc>
                  <a:txBody>
                    <a:bodyPr/>
                    <a:lstStyle/>
                    <a:p>
                      <a:pPr>
                        <a:buNone/>
                      </a:pPr>
                      <a:r>
                        <a:rPr lang="en-US" sz="1500" b="1">
                          <a:solidFill>
                            <a:schemeClr val="tx1"/>
                          </a:solidFill>
                        </a:rPr>
                        <a:t>LightGBM (Final Test)</a:t>
                      </a:r>
                      <a:endParaRPr lang="en-US" sz="1500">
                        <a:solidFill>
                          <a:schemeClr val="tx1"/>
                        </a:solidFill>
                      </a:endParaRPr>
                    </a:p>
                  </a:txBody>
                  <a:tcPr marL="76128" marR="76128" marT="38064" marB="3806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alpha val="50000"/>
                      </a:schemeClr>
                    </a:solidFill>
                  </a:tcPr>
                </a:tc>
                <a:tc>
                  <a:txBody>
                    <a:bodyPr/>
                    <a:lstStyle/>
                    <a:p>
                      <a:pPr>
                        <a:buNone/>
                      </a:pPr>
                      <a:r>
                        <a:rPr lang="en-US" sz="1500" b="1">
                          <a:solidFill>
                            <a:schemeClr val="tx1"/>
                          </a:solidFill>
                        </a:rPr>
                        <a:t>TF-IDF + Numeric</a:t>
                      </a:r>
                      <a:endParaRPr lang="en-US" sz="1500">
                        <a:solidFill>
                          <a:schemeClr val="tx1"/>
                        </a:solidFill>
                      </a:endParaRPr>
                    </a:p>
                  </a:txBody>
                  <a:tcPr marL="76128" marR="76128" marT="38064" marB="3806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alpha val="50000"/>
                      </a:schemeClr>
                    </a:solidFill>
                  </a:tcPr>
                </a:tc>
                <a:tc>
                  <a:txBody>
                    <a:bodyPr/>
                    <a:lstStyle/>
                    <a:p>
                      <a:pPr algn="ctr">
                        <a:buNone/>
                      </a:pPr>
                      <a:r>
                        <a:rPr lang="en-US" sz="1500" b="1">
                          <a:solidFill>
                            <a:schemeClr val="tx1"/>
                          </a:solidFill>
                        </a:rPr>
                        <a:t>262.0</a:t>
                      </a:r>
                      <a:endParaRPr lang="en-US" sz="1500">
                        <a:solidFill>
                          <a:schemeClr val="tx1"/>
                        </a:solidFill>
                      </a:endParaRPr>
                    </a:p>
                  </a:txBody>
                  <a:tcPr marL="76128" marR="76128" marT="38064" marB="3806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alpha val="50000"/>
                      </a:schemeClr>
                    </a:solidFill>
                  </a:tcPr>
                </a:tc>
                <a:tc>
                  <a:txBody>
                    <a:bodyPr/>
                    <a:lstStyle/>
                    <a:p>
                      <a:pPr algn="ctr">
                        <a:buNone/>
                      </a:pPr>
                      <a:r>
                        <a:rPr lang="en-US" sz="1500" b="1">
                          <a:solidFill>
                            <a:schemeClr val="tx1"/>
                          </a:solidFill>
                        </a:rPr>
                        <a:t>351.3</a:t>
                      </a:r>
                      <a:endParaRPr lang="en-US" sz="1500">
                        <a:solidFill>
                          <a:schemeClr val="tx1"/>
                        </a:solidFill>
                      </a:endParaRPr>
                    </a:p>
                  </a:txBody>
                  <a:tcPr marL="76128" marR="76128" marT="38064" marB="3806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alpha val="50000"/>
                      </a:schemeClr>
                    </a:solidFill>
                  </a:tcPr>
                </a:tc>
                <a:tc>
                  <a:txBody>
                    <a:bodyPr/>
                    <a:lstStyle/>
                    <a:p>
                      <a:pPr algn="ctr">
                        <a:buNone/>
                      </a:pPr>
                      <a:r>
                        <a:rPr lang="en-US" sz="1500" b="1">
                          <a:solidFill>
                            <a:schemeClr val="tx1"/>
                          </a:solidFill>
                        </a:rPr>
                        <a:t>0.80</a:t>
                      </a:r>
                      <a:endParaRPr lang="en-US" sz="1500">
                        <a:solidFill>
                          <a:schemeClr val="tx1"/>
                        </a:solidFill>
                      </a:endParaRPr>
                    </a:p>
                  </a:txBody>
                  <a:tcPr marL="76128" marR="76128" marT="38064" marB="3806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alpha val="50000"/>
                      </a:schemeClr>
                    </a:solidFill>
                  </a:tcPr>
                </a:tc>
                <a:tc>
                  <a:txBody>
                    <a:bodyPr/>
                    <a:lstStyle/>
                    <a:p>
                      <a:pPr algn="ctr">
                        <a:buNone/>
                      </a:pPr>
                      <a:r>
                        <a:rPr lang="en-US" sz="1500" b="1">
                          <a:solidFill>
                            <a:schemeClr val="tx1"/>
                          </a:solidFill>
                        </a:rPr>
                        <a:t>0.902</a:t>
                      </a:r>
                      <a:endParaRPr lang="en-US" sz="1500">
                        <a:solidFill>
                          <a:schemeClr val="tx1"/>
                        </a:solidFill>
                      </a:endParaRPr>
                    </a:p>
                  </a:txBody>
                  <a:tcPr marL="76128" marR="76128" marT="38064" marB="3806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alpha val="50000"/>
                      </a:schemeClr>
                    </a:solidFill>
                  </a:tcPr>
                </a:tc>
                <a:extLst>
                  <a:ext uri="{0D108BD9-81ED-4DB2-BD59-A6C34878D82A}">
                    <a16:rowId xmlns:a16="http://schemas.microsoft.com/office/drawing/2014/main" val="1892004005"/>
                  </a:ext>
                </a:extLst>
              </a:tr>
            </a:tbl>
          </a:graphicData>
        </a:graphic>
      </p:graphicFrame>
    </p:spTree>
    <p:extLst>
      <p:ext uri="{BB962C8B-B14F-4D97-AF65-F5344CB8AC3E}">
        <p14:creationId xmlns:p14="http://schemas.microsoft.com/office/powerpoint/2010/main" val="108293036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5D5E0904-721C-4D68-9EB8-1C9752E329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572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useBgFill="1">
        <p:nvSpPr>
          <p:cNvPr id="13" name="Rectangle 12">
            <a:extLst>
              <a:ext uri="{FF2B5EF4-FFF2-40B4-BE49-F238E27FC236}">
                <a16:creationId xmlns:a16="http://schemas.microsoft.com/office/drawing/2014/main" id="{D0CDF5D3-7220-42A0-9D37-ECF3BF283B3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7200" y="0"/>
            <a:ext cx="10835640" cy="51054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5" name="Rectangle 14">
            <a:extLst>
              <a:ext uri="{FF2B5EF4-FFF2-40B4-BE49-F238E27FC236}">
                <a16:creationId xmlns:a16="http://schemas.microsoft.com/office/drawing/2014/main" id="{64BC717F-58B3-4A4E-BC3B-1B11323AD5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7200" y="5105400"/>
            <a:ext cx="10835640" cy="1752600"/>
          </a:xfrm>
          <a:prstGeom prst="rect">
            <a:avLst/>
          </a:prstGeom>
          <a:solidFill>
            <a:srgbClr val="353537"/>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6" name="TextBox 5">
            <a:extLst>
              <a:ext uri="{FF2B5EF4-FFF2-40B4-BE49-F238E27FC236}">
                <a16:creationId xmlns:a16="http://schemas.microsoft.com/office/drawing/2014/main" id="{77A3043B-3615-FDA1-4504-52E461A5B584}"/>
              </a:ext>
            </a:extLst>
          </p:cNvPr>
          <p:cNvSpPr txBox="1"/>
          <p:nvPr/>
        </p:nvSpPr>
        <p:spPr>
          <a:xfrm>
            <a:off x="944183" y="5181600"/>
            <a:ext cx="10156435" cy="1076324"/>
          </a:xfrm>
          <a:prstGeom prst="rect">
            <a:avLst/>
          </a:prstGeom>
        </p:spPr>
        <p:txBody>
          <a:bodyPr vert="horz" lIns="91440" tIns="45720" rIns="91440" bIns="45720" rtlCol="0" anchor="b">
            <a:normAutofit/>
          </a:bodyPr>
          <a:lstStyle/>
          <a:p>
            <a:pPr defTabSz="914400">
              <a:lnSpc>
                <a:spcPct val="85000"/>
              </a:lnSpc>
              <a:spcBef>
                <a:spcPct val="0"/>
              </a:spcBef>
              <a:spcAft>
                <a:spcPts val="600"/>
              </a:spcAft>
            </a:pPr>
            <a:r>
              <a:rPr lang="en-US" sz="2200" b="1" spc="-50">
                <a:solidFill>
                  <a:srgbClr val="FFFFFF"/>
                </a:solidFill>
                <a:latin typeface="+mj-lt"/>
                <a:ea typeface="+mj-ea"/>
                <a:cs typeface="+mj-cs"/>
              </a:rPr>
              <a:t>Numeric-only Models - </a:t>
            </a:r>
            <a:r>
              <a:rPr lang="en-US" sz="2200" spc="-50">
                <a:solidFill>
                  <a:srgbClr val="FFFFFF"/>
                </a:solidFill>
                <a:latin typeface="+mj-lt"/>
                <a:ea typeface="+mj-ea"/>
                <a:cs typeface="+mj-cs"/>
              </a:rPr>
              <a:t>Tree-based models dramatically outperform linear ones. Even without text, </a:t>
            </a:r>
            <a:r>
              <a:rPr lang="en-US" sz="2200" b="1" spc="-50">
                <a:solidFill>
                  <a:srgbClr val="FFFFFF"/>
                </a:solidFill>
                <a:latin typeface="+mj-lt"/>
                <a:ea typeface="+mj-ea"/>
                <a:cs typeface="+mj-cs"/>
              </a:rPr>
              <a:t>structural signals (index, limits)</a:t>
            </a:r>
            <a:r>
              <a:rPr lang="en-US" sz="2200" spc="-50">
                <a:solidFill>
                  <a:srgbClr val="FFFFFF"/>
                </a:solidFill>
                <a:latin typeface="+mj-lt"/>
                <a:ea typeface="+mj-ea"/>
                <a:cs typeface="+mj-cs"/>
              </a:rPr>
              <a:t> capture much of the difficulty.</a:t>
            </a:r>
            <a:endParaRPr lang="en-US" sz="2200" b="1" spc="-50">
              <a:solidFill>
                <a:srgbClr val="FFFFFF"/>
              </a:solidFill>
              <a:latin typeface="+mj-lt"/>
              <a:ea typeface="+mj-ea"/>
              <a:cs typeface="+mj-cs"/>
            </a:endParaRPr>
          </a:p>
        </p:txBody>
      </p:sp>
      <p:sp>
        <p:nvSpPr>
          <p:cNvPr id="17" name="Rectangle 16">
            <a:extLst>
              <a:ext uri="{FF2B5EF4-FFF2-40B4-BE49-F238E27FC236}">
                <a16:creationId xmlns:a16="http://schemas.microsoft.com/office/drawing/2014/main" id="{1EE75710-64C5-4CA8-8A7C-82EE4125C9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57200" cy="6858000"/>
          </a:xfrm>
          <a:prstGeom prst="rect">
            <a:avLst/>
          </a:prstGeom>
          <a:solidFill>
            <a:srgbClr val="6F6F7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435050B1-74E1-4A81-923D-0F5971A3BC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92840" y="0"/>
            <a:ext cx="899160" cy="6858000"/>
          </a:xfrm>
          <a:prstGeom prst="rect">
            <a:avLst/>
          </a:prstGeom>
          <a:solidFill>
            <a:srgbClr val="35353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4" name="Table 3">
            <a:extLst>
              <a:ext uri="{FF2B5EF4-FFF2-40B4-BE49-F238E27FC236}">
                <a16:creationId xmlns:a16="http://schemas.microsoft.com/office/drawing/2014/main" id="{27EC96C7-213B-9604-2008-5B4AF7464B1F}"/>
              </a:ext>
            </a:extLst>
          </p:cNvPr>
          <p:cNvGraphicFramePr>
            <a:graphicFrameLocks noGrp="1"/>
          </p:cNvGraphicFramePr>
          <p:nvPr>
            <p:extLst>
              <p:ext uri="{D42A27DB-BD31-4B8C-83A1-F6EECF244321}">
                <p14:modId xmlns:p14="http://schemas.microsoft.com/office/powerpoint/2010/main" val="1444860270"/>
              </p:ext>
            </p:extLst>
          </p:nvPr>
        </p:nvGraphicFramePr>
        <p:xfrm>
          <a:off x="1097280" y="654513"/>
          <a:ext cx="9594728" cy="3796379"/>
        </p:xfrm>
        <a:graphic>
          <a:graphicData uri="http://schemas.openxmlformats.org/drawingml/2006/table">
            <a:tbl>
              <a:tblPr firstRow="1" bandRow="1"/>
              <a:tblGrid>
                <a:gridCol w="1855363">
                  <a:extLst>
                    <a:ext uri="{9D8B030D-6E8A-4147-A177-3AD203B41FA5}">
                      <a16:colId xmlns:a16="http://schemas.microsoft.com/office/drawing/2014/main" val="3850737208"/>
                    </a:ext>
                  </a:extLst>
                </a:gridCol>
                <a:gridCol w="1678384">
                  <a:extLst>
                    <a:ext uri="{9D8B030D-6E8A-4147-A177-3AD203B41FA5}">
                      <a16:colId xmlns:a16="http://schemas.microsoft.com/office/drawing/2014/main" val="2360065938"/>
                    </a:ext>
                  </a:extLst>
                </a:gridCol>
                <a:gridCol w="933778">
                  <a:extLst>
                    <a:ext uri="{9D8B030D-6E8A-4147-A177-3AD203B41FA5}">
                      <a16:colId xmlns:a16="http://schemas.microsoft.com/office/drawing/2014/main" val="3482627995"/>
                    </a:ext>
                  </a:extLst>
                </a:gridCol>
                <a:gridCol w="1082700">
                  <a:extLst>
                    <a:ext uri="{9D8B030D-6E8A-4147-A177-3AD203B41FA5}">
                      <a16:colId xmlns:a16="http://schemas.microsoft.com/office/drawing/2014/main" val="2282605590"/>
                    </a:ext>
                  </a:extLst>
                </a:gridCol>
                <a:gridCol w="838814">
                  <a:extLst>
                    <a:ext uri="{9D8B030D-6E8A-4147-A177-3AD203B41FA5}">
                      <a16:colId xmlns:a16="http://schemas.microsoft.com/office/drawing/2014/main" val="2333408704"/>
                    </a:ext>
                  </a:extLst>
                </a:gridCol>
                <a:gridCol w="1436657">
                  <a:extLst>
                    <a:ext uri="{9D8B030D-6E8A-4147-A177-3AD203B41FA5}">
                      <a16:colId xmlns:a16="http://schemas.microsoft.com/office/drawing/2014/main" val="1457545778"/>
                    </a:ext>
                  </a:extLst>
                </a:gridCol>
                <a:gridCol w="1769032">
                  <a:extLst>
                    <a:ext uri="{9D8B030D-6E8A-4147-A177-3AD203B41FA5}">
                      <a16:colId xmlns:a16="http://schemas.microsoft.com/office/drawing/2014/main" val="1331239053"/>
                    </a:ext>
                  </a:extLst>
                </a:gridCol>
              </a:tblGrid>
              <a:tr h="384096">
                <a:tc>
                  <a:txBody>
                    <a:bodyPr/>
                    <a:lstStyle/>
                    <a:p>
                      <a:pPr>
                        <a:buNone/>
                      </a:pPr>
                      <a:r>
                        <a:rPr lang="en-US" sz="1600"/>
                        <a:t>Model</a:t>
                      </a:r>
                    </a:p>
                  </a:txBody>
                  <a:tcPr marL="85737" marR="85737" marT="42868" marB="428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a:t>Features Used</a:t>
                      </a:r>
                    </a:p>
                  </a:txBody>
                  <a:tcPr marL="85737" marR="85737" marT="42868" marB="428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a:t>MAE ↓</a:t>
                      </a:r>
                    </a:p>
                  </a:txBody>
                  <a:tcPr marL="85737" marR="85737" marT="42868" marB="428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a:t>RMSE ↓</a:t>
                      </a:r>
                    </a:p>
                  </a:txBody>
                  <a:tcPr marL="85737" marR="85737" marT="42868" marB="428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a:t>R² ↑</a:t>
                      </a:r>
                    </a:p>
                  </a:txBody>
                  <a:tcPr marL="85737" marR="85737" marT="42868" marB="428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a:t>Spearman ↑</a:t>
                      </a:r>
                    </a:p>
                  </a:txBody>
                  <a:tcPr marL="85737" marR="85737" marT="42868" marB="428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a:t>Notes</a:t>
                      </a:r>
                    </a:p>
                  </a:txBody>
                  <a:tcPr marL="85737" marR="85737" marT="42868" marB="428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64941346"/>
                  </a:ext>
                </a:extLst>
              </a:tr>
              <a:tr h="881363">
                <a:tc>
                  <a:txBody>
                    <a:bodyPr/>
                    <a:lstStyle/>
                    <a:p>
                      <a:pPr>
                        <a:buNone/>
                      </a:pPr>
                      <a:r>
                        <a:rPr lang="en-US" sz="1600"/>
                        <a:t>Linear Regression</a:t>
                      </a:r>
                    </a:p>
                  </a:txBody>
                  <a:tcPr marL="85737" marR="85737" marT="42868" marB="428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a:t>Numeric only</a:t>
                      </a:r>
                    </a:p>
                  </a:txBody>
                  <a:tcPr marL="85737" marR="85737" marT="42868" marB="428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a:t>445.9</a:t>
                      </a:r>
                    </a:p>
                  </a:txBody>
                  <a:tcPr marL="85737" marR="85737" marT="42868" marB="428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a:t>606.4</a:t>
                      </a:r>
                    </a:p>
                  </a:txBody>
                  <a:tcPr marL="85737" marR="85737" marT="42868" marB="428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a:t>0.258</a:t>
                      </a:r>
                    </a:p>
                  </a:txBody>
                  <a:tcPr marL="85737" marR="85737" marT="42868" marB="428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a:t>0.711</a:t>
                      </a:r>
                    </a:p>
                  </a:txBody>
                  <a:tcPr marL="85737" marR="85737" marT="42868" marB="428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a:t>Underfits, linear assumption too weak</a:t>
                      </a:r>
                    </a:p>
                  </a:txBody>
                  <a:tcPr marL="85737" marR="85737" marT="42868" marB="428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3592877"/>
                  </a:ext>
                </a:extLst>
              </a:tr>
              <a:tr h="632730">
                <a:tc>
                  <a:txBody>
                    <a:bodyPr/>
                    <a:lstStyle/>
                    <a:p>
                      <a:pPr>
                        <a:buNone/>
                      </a:pPr>
                      <a:r>
                        <a:rPr lang="en-US" sz="1600"/>
                        <a:t>Ridge Regression</a:t>
                      </a:r>
                    </a:p>
                  </a:txBody>
                  <a:tcPr marL="85737" marR="85737" marT="42868" marB="428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a:t>Numeric only</a:t>
                      </a:r>
                    </a:p>
                  </a:txBody>
                  <a:tcPr marL="85737" marR="85737" marT="42868" marB="428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a:t>445.9</a:t>
                      </a:r>
                    </a:p>
                  </a:txBody>
                  <a:tcPr marL="85737" marR="85737" marT="42868" marB="428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a:t>606.3</a:t>
                      </a:r>
                    </a:p>
                  </a:txBody>
                  <a:tcPr marL="85737" marR="85737" marT="42868" marB="428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a:t>0.258</a:t>
                      </a:r>
                    </a:p>
                  </a:txBody>
                  <a:tcPr marL="85737" marR="85737" marT="42868" marB="428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a:t>0.711</a:t>
                      </a:r>
                    </a:p>
                  </a:txBody>
                  <a:tcPr marL="85737" marR="85737" marT="42868" marB="428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a:t>Same behavior as LR</a:t>
                      </a:r>
                    </a:p>
                  </a:txBody>
                  <a:tcPr marL="85737" marR="85737" marT="42868" marB="428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45510826"/>
                  </a:ext>
                </a:extLst>
              </a:tr>
              <a:tr h="632730">
                <a:tc>
                  <a:txBody>
                    <a:bodyPr/>
                    <a:lstStyle/>
                    <a:p>
                      <a:pPr>
                        <a:buNone/>
                      </a:pPr>
                      <a:r>
                        <a:rPr lang="en-US" sz="1600" dirty="0"/>
                        <a:t>XGBoost</a:t>
                      </a:r>
                    </a:p>
                  </a:txBody>
                  <a:tcPr marL="85737" marR="85737" marT="42868" marB="428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a:t>Numeric only</a:t>
                      </a:r>
                    </a:p>
                  </a:txBody>
                  <a:tcPr marL="85737" marR="85737" marT="42868" marB="428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a:t>323.9</a:t>
                      </a:r>
                    </a:p>
                  </a:txBody>
                  <a:tcPr marL="85737" marR="85737" marT="42868" marB="428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a:t>414.7</a:t>
                      </a:r>
                    </a:p>
                  </a:txBody>
                  <a:tcPr marL="85737" marR="85737" marT="42868" marB="428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a:t>0.655</a:t>
                      </a:r>
                    </a:p>
                  </a:txBody>
                  <a:tcPr marL="85737" marR="85737" marT="42868" marB="428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a:t>0.817</a:t>
                      </a:r>
                    </a:p>
                  </a:txBody>
                  <a:tcPr marL="85737" marR="85737" marT="42868" marB="428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a:t>Strong non-linear modeling</a:t>
                      </a:r>
                    </a:p>
                  </a:txBody>
                  <a:tcPr marL="85737" marR="85737" marT="42868" marB="428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79683589"/>
                  </a:ext>
                </a:extLst>
              </a:tr>
              <a:tr h="632730">
                <a:tc>
                  <a:txBody>
                    <a:bodyPr/>
                    <a:lstStyle/>
                    <a:p>
                      <a:pPr>
                        <a:buNone/>
                      </a:pPr>
                      <a:r>
                        <a:rPr lang="en-US" sz="1600" b="1" dirty="0"/>
                        <a:t>CatBoost</a:t>
                      </a:r>
                      <a:endParaRPr lang="en-US" sz="1600" dirty="0"/>
                    </a:p>
                  </a:txBody>
                  <a:tcPr marL="85737" marR="85737" marT="42868" marB="428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a:t>Numeric only</a:t>
                      </a:r>
                    </a:p>
                  </a:txBody>
                  <a:tcPr marL="85737" marR="85737" marT="42868" marB="428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b="1"/>
                        <a:t>304.5</a:t>
                      </a:r>
                      <a:endParaRPr lang="en-US" sz="1600"/>
                    </a:p>
                  </a:txBody>
                  <a:tcPr marL="85737" marR="85737" marT="42868" marB="428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b="1"/>
                        <a:t>384.5</a:t>
                      </a:r>
                      <a:endParaRPr lang="en-US" sz="1600"/>
                    </a:p>
                  </a:txBody>
                  <a:tcPr marL="85737" marR="85737" marT="42868" marB="428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b="1"/>
                        <a:t>0.704</a:t>
                      </a:r>
                      <a:endParaRPr lang="en-US" sz="1600"/>
                    </a:p>
                  </a:txBody>
                  <a:tcPr marL="85737" marR="85737" marT="42868" marB="428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b="1"/>
                        <a:t>0.841</a:t>
                      </a:r>
                      <a:endParaRPr lang="en-US" sz="1600"/>
                    </a:p>
                  </a:txBody>
                  <a:tcPr marL="85737" marR="85737" marT="42868" marB="428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a:t>Best numeric-only model</a:t>
                      </a:r>
                    </a:p>
                  </a:txBody>
                  <a:tcPr marL="85737" marR="85737" marT="42868" marB="428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21799073"/>
                  </a:ext>
                </a:extLst>
              </a:tr>
              <a:tr h="632730">
                <a:tc>
                  <a:txBody>
                    <a:bodyPr/>
                    <a:lstStyle/>
                    <a:p>
                      <a:pPr>
                        <a:buNone/>
                      </a:pPr>
                      <a:r>
                        <a:rPr lang="en-US" sz="1600" b="1" dirty="0"/>
                        <a:t>CatBoost (Final Test)</a:t>
                      </a:r>
                      <a:endParaRPr lang="en-US" sz="1600" dirty="0"/>
                    </a:p>
                  </a:txBody>
                  <a:tcPr marL="85737" marR="85737" marT="42868" marB="428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a:t>Numeric only</a:t>
                      </a:r>
                    </a:p>
                  </a:txBody>
                  <a:tcPr marL="85737" marR="85737" marT="42868" marB="428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b="1"/>
                        <a:t>341.8</a:t>
                      </a:r>
                      <a:endParaRPr lang="en-US" sz="1600"/>
                    </a:p>
                  </a:txBody>
                  <a:tcPr marL="85737" marR="85737" marT="42868" marB="428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b="1"/>
                        <a:t>424.7</a:t>
                      </a:r>
                      <a:endParaRPr lang="en-US" sz="1600"/>
                    </a:p>
                  </a:txBody>
                  <a:tcPr marL="85737" marR="85737" marT="42868" marB="428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b="1"/>
                        <a:t>0.735</a:t>
                      </a:r>
                      <a:endParaRPr lang="en-US" sz="1600"/>
                    </a:p>
                  </a:txBody>
                  <a:tcPr marL="85737" marR="85737" marT="42868" marB="428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b="1"/>
                        <a:t>0.887</a:t>
                      </a:r>
                      <a:endParaRPr lang="en-US" sz="1600"/>
                    </a:p>
                  </a:txBody>
                  <a:tcPr marL="85737" marR="85737" marT="42868" marB="428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a:t>Excellent generalization</a:t>
                      </a:r>
                    </a:p>
                  </a:txBody>
                  <a:tcPr marL="85737" marR="85737" marT="42868" marB="428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36994081"/>
                  </a:ext>
                </a:extLst>
              </a:tr>
            </a:tbl>
          </a:graphicData>
        </a:graphic>
      </p:graphicFrame>
    </p:spTree>
    <p:extLst>
      <p:ext uri="{BB962C8B-B14F-4D97-AF65-F5344CB8AC3E}">
        <p14:creationId xmlns:p14="http://schemas.microsoft.com/office/powerpoint/2010/main" val="80654783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739EB9A9-F377-1A77-C5DA-C6EC56C1CBF3}"/>
              </a:ext>
            </a:extLst>
          </p:cNvPr>
          <p:cNvGraphicFramePr>
            <a:graphicFrameLocks noGrp="1"/>
          </p:cNvGraphicFramePr>
          <p:nvPr>
            <p:extLst>
              <p:ext uri="{D42A27DB-BD31-4B8C-83A1-F6EECF244321}">
                <p14:modId xmlns:p14="http://schemas.microsoft.com/office/powerpoint/2010/main" val="1863498199"/>
              </p:ext>
            </p:extLst>
          </p:nvPr>
        </p:nvGraphicFramePr>
        <p:xfrm>
          <a:off x="313266" y="1024467"/>
          <a:ext cx="10710336" cy="5469201"/>
        </p:xfrm>
        <a:graphic>
          <a:graphicData uri="http://schemas.openxmlformats.org/drawingml/2006/table">
            <a:tbl>
              <a:tblPr/>
              <a:tblGrid>
                <a:gridCol w="1785056">
                  <a:extLst>
                    <a:ext uri="{9D8B030D-6E8A-4147-A177-3AD203B41FA5}">
                      <a16:colId xmlns:a16="http://schemas.microsoft.com/office/drawing/2014/main" val="527489540"/>
                    </a:ext>
                  </a:extLst>
                </a:gridCol>
                <a:gridCol w="1785056">
                  <a:extLst>
                    <a:ext uri="{9D8B030D-6E8A-4147-A177-3AD203B41FA5}">
                      <a16:colId xmlns:a16="http://schemas.microsoft.com/office/drawing/2014/main" val="2874945782"/>
                    </a:ext>
                  </a:extLst>
                </a:gridCol>
                <a:gridCol w="1785056">
                  <a:extLst>
                    <a:ext uri="{9D8B030D-6E8A-4147-A177-3AD203B41FA5}">
                      <a16:colId xmlns:a16="http://schemas.microsoft.com/office/drawing/2014/main" val="1896530809"/>
                    </a:ext>
                  </a:extLst>
                </a:gridCol>
                <a:gridCol w="1785056">
                  <a:extLst>
                    <a:ext uri="{9D8B030D-6E8A-4147-A177-3AD203B41FA5}">
                      <a16:colId xmlns:a16="http://schemas.microsoft.com/office/drawing/2014/main" val="3890744612"/>
                    </a:ext>
                  </a:extLst>
                </a:gridCol>
                <a:gridCol w="1785056">
                  <a:extLst>
                    <a:ext uri="{9D8B030D-6E8A-4147-A177-3AD203B41FA5}">
                      <a16:colId xmlns:a16="http://schemas.microsoft.com/office/drawing/2014/main" val="2867723810"/>
                    </a:ext>
                  </a:extLst>
                </a:gridCol>
                <a:gridCol w="1785056">
                  <a:extLst>
                    <a:ext uri="{9D8B030D-6E8A-4147-A177-3AD203B41FA5}">
                      <a16:colId xmlns:a16="http://schemas.microsoft.com/office/drawing/2014/main" val="1571830706"/>
                    </a:ext>
                  </a:extLst>
                </a:gridCol>
              </a:tblGrid>
              <a:tr h="890335">
                <a:tc>
                  <a:txBody>
                    <a:bodyPr/>
                    <a:lstStyle/>
                    <a:p>
                      <a:pPr>
                        <a:buNone/>
                      </a:pPr>
                      <a:r>
                        <a:rPr lang="en-US" dirty="0"/>
                        <a:t>Model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dirty="0"/>
                        <a:t>MAE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a:t>RMSE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a:t>R²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a:t>Spearman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a:t>Stability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91532876"/>
                  </a:ext>
                </a:extLst>
              </a:tr>
              <a:tr h="890335">
                <a:tc>
                  <a:txBody>
                    <a:bodyPr/>
                    <a:lstStyle/>
                    <a:p>
                      <a:pPr>
                        <a:buNone/>
                      </a:pPr>
                      <a:r>
                        <a:rPr lang="en-US" dirty="0"/>
                        <a:t>LinearSVR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a:t>378.9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dirty="0"/>
                        <a:t>715.7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a:t>-0.240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a:t>0.778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a:t>❌ Very unstable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1032185"/>
                  </a:ext>
                </a:extLst>
              </a:tr>
              <a:tr h="508763">
                <a:tc>
                  <a:txBody>
                    <a:bodyPr/>
                    <a:lstStyle/>
                    <a:p>
                      <a:pPr>
                        <a:buNone/>
                      </a:pPr>
                      <a:r>
                        <a:rPr lang="en-US"/>
                        <a:t>Ridge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a:t>388.4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dirty="0"/>
                        <a:t>507.2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a:t>0.463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a:t>0.727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a:t>Moderate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11148844"/>
                  </a:ext>
                </a:extLst>
              </a:tr>
              <a:tr h="508763">
                <a:tc>
                  <a:txBody>
                    <a:bodyPr/>
                    <a:lstStyle/>
                    <a:p>
                      <a:pPr>
                        <a:buNone/>
                      </a:pPr>
                      <a:r>
                        <a:rPr lang="en-US"/>
                        <a:t>ElasticNet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a:t>446.1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a:t>595.6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dirty="0"/>
                        <a:t>0.256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a:t>0.706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a:t>Weak</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00804614"/>
                  </a:ext>
                </a:extLst>
              </a:tr>
              <a:tr h="890335">
                <a:tc>
                  <a:txBody>
                    <a:bodyPr/>
                    <a:lstStyle/>
                    <a:p>
                      <a:pPr>
                        <a:buNone/>
                      </a:pPr>
                      <a:r>
                        <a:rPr lang="en-US" b="1"/>
                        <a:t>LightGBM (tuned)</a:t>
                      </a:r>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b="1"/>
                        <a:t>282.5</a:t>
                      </a:r>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b="1"/>
                        <a:t>362.1</a:t>
                      </a:r>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b="1" dirty="0"/>
                        <a:t>0.727</a:t>
                      </a:r>
                      <a:endParaRPr 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b="1" dirty="0"/>
                        <a:t>0.858</a:t>
                      </a:r>
                      <a:endParaRPr 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a:t>✅ Very stable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62950529"/>
                  </a:ext>
                </a:extLst>
              </a:tr>
              <a:tr h="508763">
                <a:tc>
                  <a:txBody>
                    <a:bodyPr/>
                    <a:lstStyle/>
                    <a:p>
                      <a:pPr>
                        <a:buNone/>
                      </a:pPr>
                      <a:r>
                        <a:rPr lang="en-US" dirty="0"/>
                        <a:t>XGBoost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a:t>285.0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a:t>364.0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a:t>0.724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dirty="0"/>
                        <a:t>0.856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dirty="0"/>
                        <a:t>Stable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84999143"/>
                  </a:ext>
                </a:extLst>
              </a:tr>
              <a:tr h="1271907">
                <a:tc>
                  <a:txBody>
                    <a:bodyPr/>
                    <a:lstStyle/>
                    <a:p>
                      <a:pPr>
                        <a:buNone/>
                      </a:pPr>
                      <a:r>
                        <a:rPr lang="en-US" b="1"/>
                        <a:t>LightGBM (Final Test)</a:t>
                      </a:r>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b="1"/>
                        <a:t>267.1</a:t>
                      </a:r>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b="1"/>
                        <a:t>351.2</a:t>
                      </a:r>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b="1"/>
                        <a:t>0.798</a:t>
                      </a:r>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b="1"/>
                        <a:t>0.904</a:t>
                      </a:r>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dirty="0"/>
                        <a:t>⭐ Best overall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44269449"/>
                  </a:ext>
                </a:extLst>
              </a:tr>
            </a:tbl>
          </a:graphicData>
        </a:graphic>
      </p:graphicFrame>
      <p:sp>
        <p:nvSpPr>
          <p:cNvPr id="4" name="TextBox 3">
            <a:extLst>
              <a:ext uri="{FF2B5EF4-FFF2-40B4-BE49-F238E27FC236}">
                <a16:creationId xmlns:a16="http://schemas.microsoft.com/office/drawing/2014/main" id="{E4796B5E-E3BD-C09F-AF07-6A03BD33F9F4}"/>
              </a:ext>
            </a:extLst>
          </p:cNvPr>
          <p:cNvSpPr txBox="1"/>
          <p:nvPr/>
        </p:nvSpPr>
        <p:spPr>
          <a:xfrm>
            <a:off x="241300" y="179666"/>
            <a:ext cx="10782302" cy="646331"/>
          </a:xfrm>
          <a:prstGeom prst="rect">
            <a:avLst/>
          </a:prstGeom>
          <a:noFill/>
        </p:spPr>
        <p:txBody>
          <a:bodyPr wrap="square">
            <a:spAutoFit/>
          </a:bodyPr>
          <a:lstStyle/>
          <a:p>
            <a:r>
              <a:rPr lang="en-US"/>
              <a:t>TF-IDF + Numeric Models - TF-IDF features significantly improve performance </a:t>
            </a:r>
            <a:r>
              <a:rPr lang="en-US" b="1"/>
              <a:t>only when paired with tree-based models</a:t>
            </a:r>
            <a:r>
              <a:rPr lang="en-US"/>
              <a:t>. Linear models struggle due to sparsity and noise.</a:t>
            </a:r>
            <a:endParaRPr lang="en-US" dirty="0"/>
          </a:p>
        </p:txBody>
      </p:sp>
    </p:spTree>
    <p:extLst>
      <p:ext uri="{BB962C8B-B14F-4D97-AF65-F5344CB8AC3E}">
        <p14:creationId xmlns:p14="http://schemas.microsoft.com/office/powerpoint/2010/main" val="425740855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27181B-B006-1F9C-661E-755FB7BAF29C}"/>
              </a:ext>
            </a:extLst>
          </p:cNvPr>
          <p:cNvSpPr>
            <a:spLocks noGrp="1"/>
          </p:cNvSpPr>
          <p:nvPr>
            <p:ph type="title"/>
          </p:nvPr>
        </p:nvSpPr>
        <p:spPr>
          <a:xfrm>
            <a:off x="5023413" y="365760"/>
            <a:ext cx="5892439" cy="1325562"/>
          </a:xfrm>
        </p:spPr>
        <p:txBody>
          <a:bodyPr>
            <a:normAutofit/>
          </a:bodyPr>
          <a:lstStyle/>
          <a:p>
            <a:r>
              <a:rPr lang="en-US" dirty="0"/>
              <a:t>Results</a:t>
            </a:r>
          </a:p>
        </p:txBody>
      </p:sp>
      <p:pic>
        <p:nvPicPr>
          <p:cNvPr id="9" name="Picture 8">
            <a:extLst>
              <a:ext uri="{FF2B5EF4-FFF2-40B4-BE49-F238E27FC236}">
                <a16:creationId xmlns:a16="http://schemas.microsoft.com/office/drawing/2014/main" id="{77EC49AB-9A90-17E8-D0B2-F384762611BD}"/>
              </a:ext>
            </a:extLst>
          </p:cNvPr>
          <p:cNvPicPr>
            <a:picLocks noChangeAspect="1"/>
          </p:cNvPicPr>
          <p:nvPr/>
        </p:nvPicPr>
        <p:blipFill>
          <a:blip r:embed="rId2"/>
          <a:srcRect t="1109" r="3" b="3"/>
          <a:stretch>
            <a:fillRect/>
          </a:stretch>
        </p:blipFill>
        <p:spPr>
          <a:xfrm>
            <a:off x="20" y="10"/>
            <a:ext cx="4654272" cy="3428990"/>
          </a:xfrm>
          <a:prstGeom prst="rect">
            <a:avLst/>
          </a:prstGeom>
        </p:spPr>
      </p:pic>
      <p:sp>
        <p:nvSpPr>
          <p:cNvPr id="3" name="Content Placeholder 2">
            <a:extLst>
              <a:ext uri="{FF2B5EF4-FFF2-40B4-BE49-F238E27FC236}">
                <a16:creationId xmlns:a16="http://schemas.microsoft.com/office/drawing/2014/main" id="{A230ACE4-E3B9-3952-F2C8-055929DD9E88}"/>
              </a:ext>
            </a:extLst>
          </p:cNvPr>
          <p:cNvSpPr>
            <a:spLocks noGrp="1"/>
          </p:cNvSpPr>
          <p:nvPr>
            <p:ph idx="1"/>
          </p:nvPr>
        </p:nvSpPr>
        <p:spPr>
          <a:xfrm>
            <a:off x="5023413" y="1828800"/>
            <a:ext cx="5892439" cy="4942390"/>
          </a:xfrm>
        </p:spPr>
        <p:txBody>
          <a:bodyPr>
            <a:normAutofit/>
          </a:bodyPr>
          <a:lstStyle/>
          <a:p>
            <a:pPr>
              <a:buFont typeface="Wingdings" panose="05000000000000000000" pitchFamily="2" charset="2"/>
              <a:buChar char="v"/>
            </a:pPr>
            <a:r>
              <a:rPr lang="en-US" sz="1000" dirty="0"/>
              <a:t>Overall Performance</a:t>
            </a:r>
          </a:p>
          <a:p>
            <a:pPr lvl="1">
              <a:buFont typeface="Wingdings" panose="05000000000000000000" pitchFamily="2" charset="2"/>
              <a:buChar char="§"/>
            </a:pPr>
            <a:r>
              <a:rPr lang="en-US" sz="1000" dirty="0"/>
              <a:t>Best model: </a:t>
            </a:r>
            <a:r>
              <a:rPr lang="en-US" sz="1000" b="1" dirty="0"/>
              <a:t>LightGBM (TF-IDF + Numeric Features). </a:t>
            </a:r>
            <a:endParaRPr lang="en-US" sz="1000" dirty="0"/>
          </a:p>
          <a:p>
            <a:pPr lvl="1">
              <a:buFont typeface="Wingdings" panose="05000000000000000000" pitchFamily="2" charset="2"/>
              <a:buChar char="§"/>
            </a:pPr>
            <a:r>
              <a:rPr lang="en-US" sz="1000" b="1" dirty="0"/>
              <a:t>Final Test Results</a:t>
            </a:r>
            <a:endParaRPr lang="en-US" sz="1000" dirty="0"/>
          </a:p>
          <a:p>
            <a:pPr lvl="1"/>
            <a:r>
              <a:rPr lang="en-US" sz="1000" b="1" dirty="0"/>
              <a:t>MAE:</a:t>
            </a:r>
            <a:r>
              <a:rPr lang="en-US" sz="1000" dirty="0"/>
              <a:t> 262</a:t>
            </a:r>
          </a:p>
          <a:p>
            <a:pPr lvl="1"/>
            <a:r>
              <a:rPr lang="en-US" sz="1000" b="1" dirty="0"/>
              <a:t>RMSE:</a:t>
            </a:r>
            <a:r>
              <a:rPr lang="en-US" sz="1000" dirty="0"/>
              <a:t> 351</a:t>
            </a:r>
          </a:p>
          <a:p>
            <a:pPr lvl="1"/>
            <a:r>
              <a:rPr lang="en-US" sz="1000" b="1" dirty="0"/>
              <a:t>R²:</a:t>
            </a:r>
            <a:r>
              <a:rPr lang="en-US" sz="1000" dirty="0"/>
              <a:t> 0.80</a:t>
            </a:r>
          </a:p>
          <a:p>
            <a:pPr lvl="1"/>
            <a:r>
              <a:rPr lang="en-US" sz="1000" b="1" dirty="0"/>
              <a:t>Spearman:</a:t>
            </a:r>
            <a:r>
              <a:rPr lang="en-US" sz="1000" dirty="0"/>
              <a:t> </a:t>
            </a:r>
            <a:r>
              <a:rPr lang="en-US" sz="1000" b="1" dirty="0"/>
              <a:t>0.90</a:t>
            </a:r>
          </a:p>
          <a:p>
            <a:pPr>
              <a:buFont typeface="Wingdings" panose="05000000000000000000" pitchFamily="2" charset="2"/>
              <a:buChar char="v"/>
            </a:pPr>
            <a:r>
              <a:rPr lang="en-US" sz="1000" b="1" dirty="0"/>
              <a:t>Key Findings</a:t>
            </a:r>
          </a:p>
          <a:p>
            <a:pPr lvl="1">
              <a:buFont typeface="Wingdings" panose="05000000000000000000" pitchFamily="2" charset="2"/>
              <a:buChar char="§"/>
            </a:pPr>
            <a:r>
              <a:rPr lang="en-US" sz="1000" dirty="0"/>
              <a:t>Numeric metadata alone provides a strong baseline</a:t>
            </a:r>
          </a:p>
          <a:p>
            <a:pPr lvl="1">
              <a:buFont typeface="Wingdings" panose="05000000000000000000" pitchFamily="2" charset="2"/>
              <a:buChar char="§"/>
            </a:pPr>
            <a:r>
              <a:rPr lang="en-US" sz="1000" dirty="0"/>
              <a:t>Textual information significantly improves difficulty prediction</a:t>
            </a:r>
          </a:p>
          <a:p>
            <a:pPr lvl="1">
              <a:buFont typeface="Wingdings" panose="05000000000000000000" pitchFamily="2" charset="2"/>
              <a:buChar char="§"/>
            </a:pPr>
            <a:r>
              <a:rPr lang="en-US" sz="1000" dirty="0"/>
              <a:t>Tree-based models outperform linear models</a:t>
            </a:r>
          </a:p>
          <a:p>
            <a:pPr lvl="1">
              <a:buFont typeface="Wingdings" panose="05000000000000000000" pitchFamily="2" charset="2"/>
              <a:buChar char="§"/>
            </a:pPr>
            <a:r>
              <a:rPr lang="en-US" sz="1000" dirty="0"/>
              <a:t>The model preserves </a:t>
            </a:r>
            <a:r>
              <a:rPr lang="en-US" sz="1000" b="1" dirty="0"/>
              <a:t>relative difficulty ordering</a:t>
            </a:r>
            <a:r>
              <a:rPr lang="en-US" sz="1000" dirty="0"/>
              <a:t> very well</a:t>
            </a:r>
          </a:p>
          <a:p>
            <a:pPr>
              <a:buFont typeface="Wingdings" panose="05000000000000000000" pitchFamily="2" charset="2"/>
              <a:buChar char="v"/>
            </a:pPr>
            <a:r>
              <a:rPr lang="en-US" sz="1000" b="1" dirty="0"/>
              <a:t>Model Comparison Insight</a:t>
            </a:r>
          </a:p>
          <a:p>
            <a:pPr lvl="1">
              <a:buFont typeface="Wingdings" panose="05000000000000000000" pitchFamily="2" charset="2"/>
              <a:buChar char="§"/>
            </a:pPr>
            <a:r>
              <a:rPr lang="en-US" sz="1000" dirty="0"/>
              <a:t>Linear models struggle with complex, non-linear patterns</a:t>
            </a:r>
          </a:p>
          <a:p>
            <a:pPr lvl="1">
              <a:buFont typeface="Wingdings" panose="05000000000000000000" pitchFamily="2" charset="2"/>
              <a:buChar char="§"/>
            </a:pPr>
            <a:r>
              <a:rPr lang="en-US" sz="1000" dirty="0"/>
              <a:t>TF-IDF + LightGBM achieves the </a:t>
            </a:r>
            <a:r>
              <a:rPr lang="en-US" sz="1000" b="1" dirty="0"/>
              <a:t>best balance</a:t>
            </a:r>
            <a:r>
              <a:rPr lang="en-US" sz="1000" dirty="0"/>
              <a:t> between accuracy and ranking quality</a:t>
            </a:r>
          </a:p>
          <a:p>
            <a:pPr lvl="1">
              <a:buFont typeface="Wingdings" panose="05000000000000000000" pitchFamily="2" charset="2"/>
              <a:buChar char="§"/>
            </a:pPr>
            <a:r>
              <a:rPr lang="en-US" sz="1000" dirty="0"/>
              <a:t>Text improves ranking even when absolute error remains non-zero</a:t>
            </a:r>
          </a:p>
          <a:p>
            <a:pPr>
              <a:buFont typeface="Wingdings" panose="05000000000000000000" pitchFamily="2" charset="2"/>
              <a:buChar char="v"/>
            </a:pPr>
            <a:r>
              <a:rPr lang="en-US" sz="1000" dirty="0"/>
              <a:t>Our results show that while numeric metadata already captures part of the difficulty signal, textual descriptions are essential for accurately ranking problems. The final LightGBM model achieves a Spearman correlation above 0.9 on future problems, demonstrating strong generalization and reliable difficulty ordering.</a:t>
            </a:r>
          </a:p>
          <a:p>
            <a:pPr>
              <a:buFont typeface="Wingdings" panose="05000000000000000000" pitchFamily="2" charset="2"/>
              <a:buChar char="§"/>
            </a:pPr>
            <a:endParaRPr lang="en-US" sz="1000" dirty="0"/>
          </a:p>
          <a:p>
            <a:pPr marL="457200" lvl="1" indent="0">
              <a:buNone/>
            </a:pPr>
            <a:endParaRPr lang="en-US" sz="1000" dirty="0"/>
          </a:p>
          <a:p>
            <a:pPr marL="0" indent="0">
              <a:buNone/>
            </a:pPr>
            <a:endParaRPr lang="en-US" sz="1000" dirty="0"/>
          </a:p>
          <a:p>
            <a:pPr>
              <a:buFont typeface="Wingdings" panose="05000000000000000000" pitchFamily="2" charset="2"/>
              <a:buChar char="v"/>
            </a:pPr>
            <a:endParaRPr lang="en-US" sz="1000" dirty="0"/>
          </a:p>
        </p:txBody>
      </p:sp>
      <p:pic>
        <p:nvPicPr>
          <p:cNvPr id="5" name="Picture 4">
            <a:extLst>
              <a:ext uri="{FF2B5EF4-FFF2-40B4-BE49-F238E27FC236}">
                <a16:creationId xmlns:a16="http://schemas.microsoft.com/office/drawing/2014/main" id="{C2C9A15F-5FAA-FDFD-E0EC-6940F66E470A}"/>
              </a:ext>
            </a:extLst>
          </p:cNvPr>
          <p:cNvPicPr>
            <a:picLocks noChangeAspect="1"/>
          </p:cNvPicPr>
          <p:nvPr/>
        </p:nvPicPr>
        <p:blipFill>
          <a:blip r:embed="rId3"/>
          <a:srcRect r="3" b="1111"/>
          <a:stretch>
            <a:fillRect/>
          </a:stretch>
        </p:blipFill>
        <p:spPr>
          <a:xfrm>
            <a:off x="20" y="3429001"/>
            <a:ext cx="4654272" cy="3429000"/>
          </a:xfrm>
          <a:prstGeom prst="rect">
            <a:avLst/>
          </a:prstGeom>
        </p:spPr>
      </p:pic>
    </p:spTree>
    <p:extLst>
      <p:ext uri="{BB962C8B-B14F-4D97-AF65-F5344CB8AC3E}">
        <p14:creationId xmlns:p14="http://schemas.microsoft.com/office/powerpoint/2010/main" val="122553539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876248C8-0720-48AB-91BA-5F530BB41E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22092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DDDB02F-AA13-0944-D016-2CA93CC00BD4}"/>
              </a:ext>
            </a:extLst>
          </p:cNvPr>
          <p:cNvSpPr>
            <a:spLocks noGrp="1"/>
          </p:cNvSpPr>
          <p:nvPr>
            <p:ph type="title"/>
          </p:nvPr>
        </p:nvSpPr>
        <p:spPr>
          <a:xfrm>
            <a:off x="1261871" y="365760"/>
            <a:ext cx="9858383" cy="1325562"/>
          </a:xfrm>
        </p:spPr>
        <p:txBody>
          <a:bodyPr>
            <a:normAutofit/>
          </a:bodyPr>
          <a:lstStyle/>
          <a:p>
            <a:r>
              <a:rPr lang="en-US" dirty="0"/>
              <a:t>Considerations</a:t>
            </a:r>
          </a:p>
        </p:txBody>
      </p:sp>
      <p:sp>
        <p:nvSpPr>
          <p:cNvPr id="11" name="Rectangle 10">
            <a:extLst>
              <a:ext uri="{FF2B5EF4-FFF2-40B4-BE49-F238E27FC236}">
                <a16:creationId xmlns:a16="http://schemas.microsoft.com/office/drawing/2014/main" id="{523BEDA7-D0B8-4802-8168-92452653BC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 cy="6858000"/>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3" name="Rectangle 12">
            <a:extLst>
              <a:ext uri="{FF2B5EF4-FFF2-40B4-BE49-F238E27FC236}">
                <a16:creationId xmlns:a16="http://schemas.microsoft.com/office/drawing/2014/main" id="{D2EFF34B-7B1A-4F9D-8CEE-A40962BC7C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763724" y="0"/>
            <a:ext cx="4572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graphicFrame>
        <p:nvGraphicFramePr>
          <p:cNvPr id="7" name="Content Placeholder 2">
            <a:extLst>
              <a:ext uri="{FF2B5EF4-FFF2-40B4-BE49-F238E27FC236}">
                <a16:creationId xmlns:a16="http://schemas.microsoft.com/office/drawing/2014/main" id="{F0C6A2E6-481B-409C-981F-72DE88D41FA0}"/>
              </a:ext>
            </a:extLst>
          </p:cNvPr>
          <p:cNvGraphicFramePr>
            <a:graphicFrameLocks noGrp="1"/>
          </p:cNvGraphicFramePr>
          <p:nvPr>
            <p:ph idx="1"/>
            <p:extLst>
              <p:ext uri="{D42A27DB-BD31-4B8C-83A1-F6EECF244321}">
                <p14:modId xmlns:p14="http://schemas.microsoft.com/office/powerpoint/2010/main" val="3899277574"/>
              </p:ext>
            </p:extLst>
          </p:nvPr>
        </p:nvGraphicFramePr>
        <p:xfrm>
          <a:off x="1262063" y="2013055"/>
          <a:ext cx="9858191" cy="420147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28317451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2">
            <a:lumMod val="75000"/>
          </a:schemeClr>
        </a:solid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15245CD-3034-4F11-CC5C-191AFF8610A4}"/>
              </a:ext>
            </a:extLst>
          </p:cNvPr>
          <p:cNvSpPr>
            <a:spLocks noGrp="1"/>
          </p:cNvSpPr>
          <p:nvPr>
            <p:ph type="ctrTitle"/>
          </p:nvPr>
        </p:nvSpPr>
        <p:spPr>
          <a:xfrm>
            <a:off x="2055822" y="745182"/>
            <a:ext cx="9026153" cy="3386433"/>
          </a:xfrm>
        </p:spPr>
        <p:txBody>
          <a:bodyPr anchor="b">
            <a:normAutofit/>
          </a:bodyPr>
          <a:lstStyle/>
          <a:p>
            <a:r>
              <a:rPr lang="en-US" sz="6000"/>
              <a:t>THANK YOU FOR YOUR ATTENTION!</a:t>
            </a:r>
          </a:p>
        </p:txBody>
      </p:sp>
      <p:sp>
        <p:nvSpPr>
          <p:cNvPr id="5" name="Subtitle 4">
            <a:extLst>
              <a:ext uri="{FF2B5EF4-FFF2-40B4-BE49-F238E27FC236}">
                <a16:creationId xmlns:a16="http://schemas.microsoft.com/office/drawing/2014/main" id="{5025BE6D-2477-F16F-5550-84525851AF6B}"/>
              </a:ext>
            </a:extLst>
          </p:cNvPr>
          <p:cNvSpPr>
            <a:spLocks noGrp="1"/>
          </p:cNvSpPr>
          <p:nvPr>
            <p:ph type="subTitle" idx="1"/>
          </p:nvPr>
        </p:nvSpPr>
        <p:spPr>
          <a:xfrm>
            <a:off x="2055822" y="4232516"/>
            <a:ext cx="9026153" cy="2079472"/>
          </a:xfrm>
          <a:noFill/>
        </p:spPr>
        <p:txBody>
          <a:bodyPr anchor="t">
            <a:normAutofit/>
          </a:bodyPr>
          <a:lstStyle/>
          <a:p>
            <a:r>
              <a:rPr lang="en-US" sz="3200">
                <a:solidFill>
                  <a:schemeClr val="tx2"/>
                </a:solidFill>
              </a:rPr>
              <a:t>Questions?</a:t>
            </a:r>
          </a:p>
        </p:txBody>
      </p:sp>
      <p:sp>
        <p:nvSpPr>
          <p:cNvPr id="10" name="Rectangle 9">
            <a:extLst>
              <a:ext uri="{FF2B5EF4-FFF2-40B4-BE49-F238E27FC236}">
                <a16:creationId xmlns:a16="http://schemas.microsoft.com/office/drawing/2014/main" id="{B734FEF0-069B-48C5-BACF-9716F03012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2811"/>
            <a:ext cx="1286934" cy="6858000"/>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148627347"/>
      </p:ext>
    </p:extLst>
  </p:cSld>
  <p:clrMapOvr>
    <a:masterClrMapping/>
  </p:clrMapOvr>
</p:sld>
</file>

<file path=ppt/theme/theme1.xml><?xml version="1.0" encoding="utf-8"?>
<a:theme xmlns:a="http://schemas.openxmlformats.org/drawingml/2006/main" name="View">
  <a:themeElements>
    <a:clrScheme name="View">
      <a:dk1>
        <a:srgbClr val="000000"/>
      </a:dk1>
      <a:lt1>
        <a:srgbClr val="FFFFFF"/>
      </a:lt1>
      <a:dk2>
        <a:srgbClr val="46464A"/>
      </a:dk2>
      <a:lt2>
        <a:srgbClr val="D6D3CC"/>
      </a:lt2>
      <a:accent1>
        <a:srgbClr val="6F6F74"/>
      </a:accent1>
      <a:accent2>
        <a:srgbClr val="92A9B9"/>
      </a:accent2>
      <a:accent3>
        <a:srgbClr val="A7B789"/>
      </a:accent3>
      <a:accent4>
        <a:srgbClr val="B9A489"/>
      </a:accent4>
      <a:accent5>
        <a:srgbClr val="8D6374"/>
      </a:accent5>
      <a:accent6>
        <a:srgbClr val="9B7362"/>
      </a:accent6>
      <a:hlink>
        <a:srgbClr val="67AABF"/>
      </a:hlink>
      <a:folHlink>
        <a:srgbClr val="ABAFA5"/>
      </a:folHlink>
    </a:clrScheme>
    <a:fontScheme name="View">
      <a:maj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View">
      <a:fillStyleLst>
        <a:solidFill>
          <a:schemeClr val="phClr"/>
        </a:solidFill>
        <a:solidFill>
          <a:schemeClr val="phClr">
            <a:tint val="60000"/>
            <a:satMod val="120000"/>
          </a:schemeClr>
        </a:solidFill>
        <a:solidFill>
          <a:schemeClr val="phClr">
            <a:shade val="75000"/>
            <a:satMod val="160000"/>
          </a:schemeClr>
        </a:solidFill>
      </a:fillStyleLst>
      <a:lnStyleLst>
        <a:ln w="9525" cap="flat" cmpd="sng" algn="ctr">
          <a:solidFill>
            <a:schemeClr val="phClr"/>
          </a:solidFill>
          <a:prstDash val="solid"/>
        </a:ln>
        <a:ln w="13970" cap="flat" cmpd="sng" algn="ctr">
          <a:solidFill>
            <a:schemeClr val="phClr"/>
          </a:solidFill>
          <a:prstDash val="solid"/>
        </a:ln>
        <a:ln w="17145" cap="flat" cmpd="sng" algn="ctr">
          <a:solidFill>
            <a:schemeClr val="phClr">
              <a:shade val="95000"/>
              <a:alpha val="95000"/>
              <a:satMod val="150000"/>
            </a:schemeClr>
          </a:solidFill>
          <a:prstDash val="solid"/>
        </a:ln>
      </a:lnStyleLst>
      <a:effectStyleLst>
        <a:effectStyle>
          <a:effectLst/>
        </a:effectStyle>
        <a:effectStyle>
          <a:effectLst>
            <a:outerShdw blurRad="50800" dist="15240" dir="5400000" algn="tl" rotWithShape="0">
              <a:srgbClr val="000000">
                <a:alpha val="75000"/>
              </a:srgbClr>
            </a:outerShdw>
          </a:effectLst>
          <a:scene3d>
            <a:camera prst="orthographicFront">
              <a:rot lat="0" lon="0" rev="0"/>
            </a:camera>
            <a:lightRig rig="brightRoom" dir="tl"/>
          </a:scene3d>
          <a:sp3d contourW="9525" prstMaterial="flat">
            <a:bevelT w="0" h="0" prst="coolSlant"/>
            <a:contourClr>
              <a:schemeClr val="phClr">
                <a:shade val="35000"/>
                <a:satMod val="130000"/>
              </a:schemeClr>
            </a:contourClr>
          </a:sp3d>
        </a:effectStyle>
        <a:effectStyle>
          <a:effectLst>
            <a:outerShdw blurRad="76200" dist="25400" dir="5400000" algn="tl" rotWithShape="0">
              <a:srgbClr val="000000">
                <a:alpha val="55000"/>
              </a:srgbClr>
            </a:outerShdw>
          </a:effectLst>
          <a:scene3d>
            <a:camera prst="orthographicFront">
              <a:rot lat="0" lon="0" rev="0"/>
            </a:camera>
            <a:lightRig rig="brightRoom" dir="tl"/>
          </a:scene3d>
          <a:sp3d contourW="19050" prstMaterial="flat">
            <a:bevelT w="0" h="0" prst="coolSlant"/>
            <a:contourClr>
              <a:schemeClr val="phClr">
                <a:shade val="25000"/>
                <a:satMod val="140000"/>
              </a:schemeClr>
            </a:contourClr>
          </a:sp3d>
        </a:effectStyle>
      </a:effectStyleLst>
      <a:bgFillStyleLst>
        <a:solidFill>
          <a:schemeClr val="phClr"/>
        </a:solidFill>
        <a:solidFill>
          <a:schemeClr val="phClr">
            <a:tint val="95000"/>
            <a:satMod val="170000"/>
          </a:schemeClr>
        </a:solidFill>
        <a:gradFill rotWithShape="1">
          <a:gsLst>
            <a:gs pos="0">
              <a:schemeClr val="phClr">
                <a:tint val="94000"/>
                <a:shade val="98000"/>
                <a:satMod val="130000"/>
                <a:lumMod val="102000"/>
              </a:schemeClr>
            </a:gs>
            <a:gs pos="100000">
              <a:schemeClr val="phClr">
                <a:tint val="98000"/>
                <a:shade val="78000"/>
                <a:satMod val="140000"/>
              </a:schemeClr>
            </a:gs>
          </a:gsLst>
          <a:path path="circle">
            <a:fillToRect l="100000" t="100000" r="100000" b="100000"/>
          </a:path>
        </a:gradFill>
      </a:bgFillStyleLst>
    </a:fmtScheme>
  </a:themeElements>
  <a:objectDefaults/>
  <a:extraClrSchemeLst/>
  <a:extLst>
    <a:ext uri="{05A4C25C-085E-4340-85A3-A5531E510DB2}">
      <thm15:themeFamily xmlns:thm15="http://schemas.microsoft.com/office/thememl/2012/main" name="View" id="{BA0EB5A6-F2D4-4F82-977B-64ADEE4A2A69}" vid="{3969A8A2-35DB-4E3B-8885-16FD2056867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TM03457515[[fn=View]]</Template>
  <TotalTime>255</TotalTime>
  <Words>1164</Words>
  <Application>Microsoft Office PowerPoint</Application>
  <PresentationFormat>Widescreen</PresentationFormat>
  <Paragraphs>248</Paragraphs>
  <Slides>15</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Aptos</vt:lpstr>
      <vt:lpstr>Arial</vt:lpstr>
      <vt:lpstr>Century Schoolbook</vt:lpstr>
      <vt:lpstr>Wingdings</vt:lpstr>
      <vt:lpstr>Wingdings 2</vt:lpstr>
      <vt:lpstr>View</vt:lpstr>
      <vt:lpstr>A Comparative Analysis of  Machine Learning Models to Predict the Difficulty of Codeforces Problems Team 12  </vt:lpstr>
      <vt:lpstr>Agenda</vt:lpstr>
      <vt:lpstr>Project in a Slide</vt:lpstr>
      <vt:lpstr>Contributions</vt:lpstr>
      <vt:lpstr>Problem Statement</vt:lpstr>
      <vt:lpstr>Data</vt:lpstr>
      <vt:lpstr>PowerPoint Presentation</vt:lpstr>
      <vt:lpstr>PowerPoint Presentation</vt:lpstr>
      <vt:lpstr>PowerPoint Presentation</vt:lpstr>
      <vt:lpstr>Model(s)</vt:lpstr>
      <vt:lpstr>PowerPoint Presentation</vt:lpstr>
      <vt:lpstr>PowerPoint Presentation</vt:lpstr>
      <vt:lpstr>Results</vt:lpstr>
      <vt:lpstr>Considerations</vt:lpstr>
      <vt:lpstr>THANK YOU FOR YOUR ATTENTION!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&lt;PROJECT TITLE&gt;</dc:title>
  <dc:creator>Samir Mammadov</dc:creator>
  <cp:lastModifiedBy>Nargiz Aghayeva</cp:lastModifiedBy>
  <cp:revision>20</cp:revision>
  <dcterms:created xsi:type="dcterms:W3CDTF">2024-05-05T12:15:40Z</dcterms:created>
  <dcterms:modified xsi:type="dcterms:W3CDTF">2025-12-15T19:52:24Z</dcterms:modified>
</cp:coreProperties>
</file>